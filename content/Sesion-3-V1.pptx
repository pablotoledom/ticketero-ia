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1309350" cx="20104100"/>
  <p:notesSz cx="20104100" cy="11309350"/>
  <p:embeddedFontLst>
    <p:embeddedFont>
      <p:font typeface="Montserra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jH3SnYQ8+7eEbrSlaEZ/m6yENT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Montserra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.fntdata"/><Relationship Id="rId6" Type="http://schemas.openxmlformats.org/officeDocument/2006/relationships/slide" Target="slides/slide1.xml"/><Relationship Id="rId18" Type="http://schemas.openxmlformats.org/officeDocument/2006/relationships/font" Target="fonts/Montserra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" name="Google Shape;45;p1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aec18a8ae7_3_0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g3aec18a8ae7_3_0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12aa4b82b_0_3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g3912aa4b82b_0_3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163046308_0_13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g39163046308_0_13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ec18a8ae7_0_1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g3aec18a8ae7_0_1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163046308_3_3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9163046308_3_3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ab5e26f3d_0_27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aab5e26f3d_0_27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ab5e26f3d_0_62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3aab5e26f3d_0_62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ee1ffb01f_0_14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g3aee1ffb01f_0_14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ee1ffb01f_0_6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aee1ffb01f_0_6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"/>
          <p:cNvSpPr txBox="1"/>
          <p:nvPr>
            <p:ph type="title"/>
          </p:nvPr>
        </p:nvSpPr>
        <p:spPr>
          <a:xfrm>
            <a:off x="927456" y="6204754"/>
            <a:ext cx="2063114" cy="704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50">
                <a:solidFill>
                  <a:srgbClr val="DF3D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566375" y="132952"/>
            <a:ext cx="2290139" cy="580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46208" cy="186337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7"/>
          <p:cNvSpPr txBox="1"/>
          <p:nvPr>
            <p:ph type="title"/>
          </p:nvPr>
        </p:nvSpPr>
        <p:spPr>
          <a:xfrm>
            <a:off x="927456" y="6204754"/>
            <a:ext cx="2063114" cy="704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50">
                <a:solidFill>
                  <a:srgbClr val="DF3D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/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50">
                <a:solidFill>
                  <a:srgbClr val="DF3D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" type="subTitle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927456" y="6204754"/>
            <a:ext cx="2063114" cy="704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50">
                <a:solidFill>
                  <a:srgbClr val="DF3D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20081388" cy="1128356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5"/>
          <p:cNvSpPr/>
          <p:nvPr/>
        </p:nvSpPr>
        <p:spPr>
          <a:xfrm>
            <a:off x="771662" y="6002717"/>
            <a:ext cx="7084059" cy="1283970"/>
          </a:xfrm>
          <a:custGeom>
            <a:rect b="b" l="l" r="r" t="t"/>
            <a:pathLst>
              <a:path extrusionOk="0" h="1283970" w="7084059">
                <a:moveTo>
                  <a:pt x="6865948" y="0"/>
                </a:moveTo>
                <a:lnTo>
                  <a:pt x="217783" y="0"/>
                </a:lnTo>
                <a:lnTo>
                  <a:pt x="168101" y="5794"/>
                </a:lnTo>
                <a:lnTo>
                  <a:pt x="122360" y="22278"/>
                </a:lnTo>
                <a:lnTo>
                  <a:pt x="81909" y="48102"/>
                </a:lnTo>
                <a:lnTo>
                  <a:pt x="48098" y="81915"/>
                </a:lnTo>
                <a:lnTo>
                  <a:pt x="22276" y="122368"/>
                </a:lnTo>
                <a:lnTo>
                  <a:pt x="5794" y="168111"/>
                </a:lnTo>
                <a:lnTo>
                  <a:pt x="0" y="217794"/>
                </a:lnTo>
                <a:lnTo>
                  <a:pt x="0" y="1065642"/>
                </a:lnTo>
                <a:lnTo>
                  <a:pt x="5794" y="1115325"/>
                </a:lnTo>
                <a:lnTo>
                  <a:pt x="22276" y="1161066"/>
                </a:lnTo>
                <a:lnTo>
                  <a:pt x="48098" y="1201517"/>
                </a:lnTo>
                <a:lnTo>
                  <a:pt x="81909" y="1235328"/>
                </a:lnTo>
                <a:lnTo>
                  <a:pt x="122360" y="1261150"/>
                </a:lnTo>
                <a:lnTo>
                  <a:pt x="168101" y="1277632"/>
                </a:lnTo>
                <a:lnTo>
                  <a:pt x="217783" y="1283426"/>
                </a:lnTo>
                <a:lnTo>
                  <a:pt x="6865948" y="1283426"/>
                </a:lnTo>
                <a:lnTo>
                  <a:pt x="6915630" y="1277632"/>
                </a:lnTo>
                <a:lnTo>
                  <a:pt x="6961371" y="1261150"/>
                </a:lnTo>
                <a:lnTo>
                  <a:pt x="7001822" y="1235328"/>
                </a:lnTo>
                <a:lnTo>
                  <a:pt x="7035633" y="1201517"/>
                </a:lnTo>
                <a:lnTo>
                  <a:pt x="7061455" y="1161066"/>
                </a:lnTo>
                <a:lnTo>
                  <a:pt x="7077937" y="1115325"/>
                </a:lnTo>
                <a:lnTo>
                  <a:pt x="7083731" y="1065642"/>
                </a:lnTo>
                <a:lnTo>
                  <a:pt x="7083731" y="217794"/>
                </a:lnTo>
                <a:lnTo>
                  <a:pt x="7077937" y="168111"/>
                </a:lnTo>
                <a:lnTo>
                  <a:pt x="7061455" y="122368"/>
                </a:lnTo>
                <a:lnTo>
                  <a:pt x="7035633" y="81915"/>
                </a:lnTo>
                <a:lnTo>
                  <a:pt x="7001822" y="48102"/>
                </a:lnTo>
                <a:lnTo>
                  <a:pt x="6961371" y="22278"/>
                </a:lnTo>
                <a:lnTo>
                  <a:pt x="6915630" y="5794"/>
                </a:lnTo>
                <a:lnTo>
                  <a:pt x="686594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5"/>
          <p:cNvSpPr txBox="1"/>
          <p:nvPr>
            <p:ph type="title"/>
          </p:nvPr>
        </p:nvSpPr>
        <p:spPr>
          <a:xfrm>
            <a:off x="927456" y="6204754"/>
            <a:ext cx="2063114" cy="704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50" u="none" cap="none" strike="noStrike">
                <a:solidFill>
                  <a:srgbClr val="DF3D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" type="body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.jpg"/><Relationship Id="rId6" Type="http://schemas.openxmlformats.org/officeDocument/2006/relationships/hyperlink" Target="https://docs.google.com/document/d/1AEHzaW3MR_l3UGZi-dwNPOeSjyAfDFvPREiO7mQr9eY/edit?tab=t.0#heading=h.cf3cxmvy1c6d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/>
          <p:nvPr/>
        </p:nvSpPr>
        <p:spPr>
          <a:xfrm>
            <a:off x="710825" y="5953075"/>
            <a:ext cx="11436000" cy="1340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 txBox="1"/>
          <p:nvPr>
            <p:ph type="title"/>
          </p:nvPr>
        </p:nvSpPr>
        <p:spPr>
          <a:xfrm>
            <a:off x="883900" y="5931925"/>
            <a:ext cx="11593200" cy="13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IA-POWERED CLEAN ARCHITECTUREDEVELOPMENT</a:t>
            </a:r>
            <a:endParaRPr/>
          </a:p>
        </p:txBody>
      </p:sp>
      <p:sp>
        <p:nvSpPr>
          <p:cNvPr id="49" name="Google Shape;49;p1"/>
          <p:cNvSpPr txBox="1"/>
          <p:nvPr/>
        </p:nvSpPr>
        <p:spPr>
          <a:xfrm>
            <a:off x="931250" y="7465450"/>
            <a:ext cx="90048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Amazon Q como protagonista del desarrollo</a:t>
            </a:r>
            <a:endParaRPr b="0" i="0" sz="33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66375" y="132952"/>
            <a:ext cx="2290139" cy="580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946208" cy="186337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"/>
          <p:cNvSpPr txBox="1"/>
          <p:nvPr/>
        </p:nvSpPr>
        <p:spPr>
          <a:xfrm>
            <a:off x="884150" y="776500"/>
            <a:ext cx="71781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OBJETIVOS DE LA SESIÓN</a:t>
            </a:r>
            <a:endParaRPr b="1" i="0" sz="4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3"/>
          <p:cNvSpPr txBox="1"/>
          <p:nvPr/>
        </p:nvSpPr>
        <p:spPr>
          <a:xfrm>
            <a:off x="4846725" y="6524150"/>
            <a:ext cx="729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 txBox="1"/>
          <p:nvPr/>
        </p:nvSpPr>
        <p:spPr>
          <a:xfrm>
            <a:off x="762000" y="2362200"/>
            <a:ext cx="17455500" cy="3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IA-POWERED ENTERPRISE APIS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MCP’s</a:t>
            </a:r>
            <a:r>
              <a:rPr b="1" lang="en-US" sz="3000">
                <a:solidFill>
                  <a:schemeClr val="dk1"/>
                </a:solidFill>
              </a:rPr>
              <a:t>. GITHUB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Refinamiento de la documentación</a:t>
            </a:r>
            <a:r>
              <a:rPr b="1" lang="en-US" sz="3000">
                <a:solidFill>
                  <a:schemeClr val="dk1"/>
                </a:solidFill>
              </a:rPr>
              <a:t>- Ingeniera de Prompts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solidFill>
                  <a:schemeClr val="dk1"/>
                </a:solidFill>
              </a:rPr>
              <a:t>Arquitecture.MD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solidFill>
                  <a:schemeClr val="dk1"/>
                </a:solidFill>
              </a:rPr>
              <a:t>Implementacion</a:t>
            </a:r>
            <a:endParaRPr b="1"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g3aec18a8ae7_3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66375" y="132952"/>
            <a:ext cx="2290138" cy="580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g3aec18a8ae7_3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946208" cy="186337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g3aec18a8ae7_3_0"/>
          <p:cNvSpPr txBox="1"/>
          <p:nvPr/>
        </p:nvSpPr>
        <p:spPr>
          <a:xfrm>
            <a:off x="884150" y="776500"/>
            <a:ext cx="71781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latin typeface="Montserrat"/>
                <a:ea typeface="Montserrat"/>
                <a:cs typeface="Montserrat"/>
                <a:sym typeface="Montserrat"/>
              </a:rPr>
              <a:t>METODOLOGIA</a:t>
            </a:r>
            <a:endParaRPr b="1" i="0" sz="4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g3aec18a8ae7_3_0"/>
          <p:cNvSpPr txBox="1"/>
          <p:nvPr/>
        </p:nvSpPr>
        <p:spPr>
          <a:xfrm>
            <a:off x="4846725" y="6524150"/>
            <a:ext cx="729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aec18a8ae7_3_0"/>
          <p:cNvSpPr txBox="1"/>
          <p:nvPr/>
        </p:nvSpPr>
        <p:spPr>
          <a:xfrm>
            <a:off x="762000" y="2362200"/>
            <a:ext cx="17455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t/>
            </a:r>
            <a:endParaRPr b="1" sz="3000">
              <a:solidFill>
                <a:schemeClr val="dk1"/>
              </a:solidFill>
            </a:endParaRPr>
          </a:p>
        </p:txBody>
      </p:sp>
      <p:pic>
        <p:nvPicPr>
          <p:cNvPr descr="Metodología de Desarrollo de Software Asistido por LLM&#10;&#10;1. Tasks (Gestión de Tareas y Requerimientos)&#10;En esta fase, el objetivo es reducir la ambigüedad antes de escribir una sola línea de código.&#10;&#10;Rol del LLM: Analista de Negocio / Asistente de Producto.&#10;Acciones Clave:&#10;Limpieza de Requerimientos: Pegar una descripción desordenada de una funcionalidad y pedir al LLM que la estructure en una Historia de Usuario con formato estándar (ej. &quot;Como usuario, quiero... para que...&quot;).&#10;Criterios de Aceptación: Generar criterios Gherkin (Given/When/Then) para asegurar que se cubren todos los casos de borde.&#10;Desglose: Pedir al modelo que divida una tarea grande en sub-tareas técnicas más pequeñas.&#10;2. Brainstorm (Ideación e Investigación)&#10;Antes de decidir cómo hacerlo, explora opciones. Los LLMs son excelentes para la divergencia.&#10;&#10;Rol del LLM: Arquitecto de Soluciones / Consultor Técnico.&#10;Acciones Clave:&#10;Análisis de Alternativas: Preguntar: &quot;¿Cuáles son 3 formas eficientes de manejar el estado global en esta aplicación React? Lista pros y contras&quot;.&#10;Selección de Tecnologías: Comparar librerías para una tarea específica (ej. &quot;¿Qué librería de gráficos es más ligera para móviles: Chart.js o Recharts?&quot;).&#10;Identificación de Riesgos: Preguntar qué problemas de seguridad o rendimiento podrían surgir con el enfoque propuesto.&#10;3. Plan (Diseño y Arquitectura)&#10;Definir la estructura. Aquí los LLMs brillan transformando texto en estructuras visuales o esquemáticas.&#10;&#10;Rol del LLM: Arquitecto de Software.&#10;Acciones Clave:&#10;Diagramas como Código: Pedir al LLM que genere código para Mermaid.js o PlantUML para visualizar flujos de datos o arquitectura de sistemas.&#10;Diseño de API: Generar especificaciones OpenAPI (Swagger) o esquemas GraphQL basados en los requisitos de datos.&#10;Esquemas de Base de Datos: Solicitar el DDL SQL o esquemas NoSQL optimizados para las consultas que se planean realizar.&#10;4. Implement (Codificación)&#10;La fase de construcción. Herramientas como GitHub Copilot, Cursor o Amazon Q se integran en el IDE.&#10;&#10;Rol del LLM: Pair Programmer (Programador de Pares).&#10;Acciones Clave:&#10;Generación de Boilerplate: Crear estructuras básicas de clases, controladores o componentes de UI repetitivos.&#10;Lógica Compleja: Escribir funciones específicas (ej. &quot;Escribe una función regex para validar emails corporativos&quot;).&#10;Transformación: Traducir código de un lenguaje a otro o refactorizar código &quot;sucio&quot; a código limpio siguiendo principios SOLID.&#10;Context Awareness (RAG): Usar herramientas que lean tus otros archivos para que el LLM sugiera código que respete el estilo y las variables de tu proyecto existente.&#10;5. Verify (Verificación y QA)&#10;Garantizar la calidad. El LLM es excelente encontrando patrones que el ojo humano pasa por alto.&#10;&#10;Rol del LLM: Ingeniero de QA / Auditor de Seguridad.&#10;Acciones Clave:&#10;Generación de Tests: Crear tests unitarios (Jest, PyTest, JUnit) automáticamente para el código recién escrito, enfocándose en casos extremos (edge cases).&#10;Análisis Estático: Pegar un bloque de código y preguntar: &quot;¿Ves alguna vulnerabilidad de seguridad o posible 'race condition' aquí?&quot;.&#10;Datos de Prueba: Generar scripts SQL o JSONs con datos falsos (mock data) realistas para probar la aplicación.&#10;6. Deploy (Despliegue e Infraestructura)&#10;Llevar el código a producción y gestionar la nube.&#10;&#10;Rol del LLM: Ingeniero DevOps.&#10;Acciones Clave:&#10;Infraestructura como Código (IaC): Generar plantillas de Terraform, CloudFormation o Dockerfiles basados en la arquitectura definida en la fase de &quot;Plan&quot;.&#10;Scripts de Automatización: Crear scripts de Bash o Python para pipelines de CI/CD (GitHub Actions, GitLab CI).&#10;Resolución de Errores de Despliegue: Pegar logs de error de la consola de la nube para obtener diagnósticos y soluciones rápidas.&#10;7. Document (Documentación)&#10;Cerrar el ciclo asegurando que el conocimiento perdura.&#10;&#10;Rol del LLM: Technical Writer (Redactor Técnico).&#10;Acciones Clave:&#10;Docstrings: Añadir comentarios explicativos automáticos a funciones y clases complejas.&#10;README.md: Generar la documentación del repositorio explicando cómo instalar, configurar y usar el proyecto.&#10;Release Notes: Resumir la lista de commits técnicos en notas de versión legibles para humanos o usuarios finales.&#10;Resumen del Flujo de Trabajo&#10;Pregunta (Prompting): Inicias cada fase consultando al modelo.&#10;Generación: El modelo produce un borrador (código, plan, texto).&#10;Validación Humana: Revisas que sea correcto, seguro y eficiente.&#10;Iteración: Refinas el resultado con nuevos prompts si es necesario.&#10;Integración: Incorporas el resultado al proyecto." id="68" name="Google Shape;68;g3aec18a8ae7_3_0"/>
          <p:cNvPicPr preferRelativeResize="0"/>
          <p:nvPr/>
        </p:nvPicPr>
        <p:blipFill rotWithShape="1">
          <a:blip r:embed="rId5">
            <a:alphaModFix/>
          </a:blip>
          <a:srcRect b="0" l="0" r="0" t="13043"/>
          <a:stretch/>
        </p:blipFill>
        <p:spPr>
          <a:xfrm>
            <a:off x="547650" y="1863375"/>
            <a:ext cx="19008800" cy="92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g3912aa4b82b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66375" y="132952"/>
            <a:ext cx="2290138" cy="580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g3912aa4b82b_0_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946208" cy="186337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g3912aa4b82b_0_3"/>
          <p:cNvSpPr txBox="1"/>
          <p:nvPr/>
        </p:nvSpPr>
        <p:spPr>
          <a:xfrm>
            <a:off x="884150" y="776500"/>
            <a:ext cx="148428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latin typeface="Montserrat"/>
                <a:ea typeface="Montserrat"/>
                <a:cs typeface="Montserrat"/>
                <a:sym typeface="Montserrat"/>
              </a:rPr>
              <a:t>MCPs</a:t>
            </a:r>
            <a:endParaRPr b="1" i="0" sz="4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g3912aa4b82b_0_3"/>
          <p:cNvSpPr txBox="1"/>
          <p:nvPr/>
        </p:nvSpPr>
        <p:spPr>
          <a:xfrm>
            <a:off x="1098700" y="1711475"/>
            <a:ext cx="122835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latin typeface="Montserrat"/>
                <a:ea typeface="Montserrat"/>
                <a:cs typeface="Montserrat"/>
                <a:sym typeface="Montserrat"/>
              </a:rPr>
              <a:t>Conexion con Github - Repositorio de codigo</a:t>
            </a:r>
            <a:endParaRPr b="1" sz="4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Generame una imagen lucia a mcp en inteligencia artificial conectado a un LLM y utilizando los m4p de GitHub" id="77" name="Google Shape;77;g3912aa4b82b_0_3"/>
          <p:cNvPicPr preferRelativeResize="0"/>
          <p:nvPr/>
        </p:nvPicPr>
        <p:blipFill rotWithShape="1">
          <a:blip r:embed="rId5">
            <a:alphaModFix/>
          </a:blip>
          <a:srcRect b="0" l="22374" r="12278" t="22033"/>
          <a:stretch/>
        </p:blipFill>
        <p:spPr>
          <a:xfrm>
            <a:off x="3910300" y="2646450"/>
            <a:ext cx="12283500" cy="8158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g39163046308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66375" y="132952"/>
            <a:ext cx="2290138" cy="580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g39163046308_0_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946208" cy="186337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39163046308_0_13"/>
          <p:cNvSpPr txBox="1"/>
          <p:nvPr/>
        </p:nvSpPr>
        <p:spPr>
          <a:xfrm>
            <a:off x="884150" y="776500"/>
            <a:ext cx="148428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latin typeface="Montserrat"/>
                <a:ea typeface="Montserrat"/>
                <a:cs typeface="Montserrat"/>
                <a:sym typeface="Montserrat"/>
              </a:rPr>
              <a:t>ARQUITECTURA CON AMAZON Q</a:t>
            </a:r>
            <a:endParaRPr b="1" i="0" sz="4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Diseñar arquitectura completa Sistema Ticketero mediante conversación iterativa con Amazon Q&#10;&#10;De Arquitectura Tradicional a Architecture-as-Conversation:&#10;Diseño TradicionalArchitecture-as-ConversationArquitecto diseña en pizarra díasConversación iterativa minutosDiagramas manuales VisioDiagramas automáticos Mermaid/PlantUMLDocumentación post-factoDocumentación generada real-timeUna propuesta monolíticaMúltiples opciones con trade-offsOptimización post-mortemOptimización proactiva iterativa&#10;Objetivo Sesión: A partir de los requerimientos funcionales del documento, iterar con Amazon Q para obtener la mejor arquitectura AWS para el Sistema Ticketero, con diagramas, análisis de costos y trade-offs.&#10;Principio: La arquitectura emerge del diálogo estructurado, no del diseño monolítico inicial." id="85" name="Google Shape;85;g39163046308_0_13"/>
          <p:cNvPicPr preferRelativeResize="0"/>
          <p:nvPr/>
        </p:nvPicPr>
        <p:blipFill rotWithShape="1">
          <a:blip r:embed="rId5">
            <a:alphaModFix/>
          </a:blip>
          <a:srcRect b="0" l="2529" r="3077" t="14544"/>
          <a:stretch/>
        </p:blipFill>
        <p:spPr>
          <a:xfrm>
            <a:off x="1033900" y="1710975"/>
            <a:ext cx="18036300" cy="908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g3aec18a8ae7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66375" y="132952"/>
            <a:ext cx="2290138" cy="580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g3aec18a8ae7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946208" cy="186337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3aec18a8ae7_0_1"/>
          <p:cNvSpPr txBox="1"/>
          <p:nvPr/>
        </p:nvSpPr>
        <p:spPr>
          <a:xfrm>
            <a:off x="884150" y="776500"/>
            <a:ext cx="15310500" cy="9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latin typeface="Montserrat"/>
                <a:ea typeface="Montserrat"/>
                <a:cs typeface="Montserrat"/>
                <a:sym typeface="Montserrat"/>
              </a:rPr>
              <a:t>COMO ITERAR CON LA </a:t>
            </a:r>
            <a:r>
              <a:rPr b="1" lang="en-US" sz="4000">
                <a:latin typeface="Montserrat"/>
                <a:ea typeface="Montserrat"/>
                <a:cs typeface="Montserrat"/>
                <a:sym typeface="Montserrat"/>
              </a:rPr>
              <a:t>ARQUITECTURA CON AMAZON Q</a:t>
            </a:r>
            <a:endParaRPr b="1" i="0" sz="4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Generadme una imagen de un mago, haciendo un truco de magia. en la cual este haciendo una suma de 2+2+3" id="93" name="Google Shape;93;g3aec18a8ae7_0_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33926" y="1918688"/>
            <a:ext cx="14236250" cy="79244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aec18a8ae7_0_1"/>
          <p:cNvSpPr txBox="1"/>
          <p:nvPr/>
        </p:nvSpPr>
        <p:spPr>
          <a:xfrm>
            <a:off x="1124188" y="10052050"/>
            <a:ext cx="17855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u="sng">
                <a:solidFill>
                  <a:schemeClr val="hlink"/>
                </a:solidFill>
                <a:hlinkClick r:id="rId6"/>
              </a:rPr>
              <a:t>https://docs.google.com/document/d/1AEHzaW3MR_l3UGZi-dwNPOeSjyAfDFvPREiO7mQr9eY/edit?tab=t.0#heading=h.cf3cxmvy1c6d</a:t>
            </a:r>
            <a:endParaRPr sz="3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g39163046308_3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66375" y="132952"/>
            <a:ext cx="2290138" cy="580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39163046308_3_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946208" cy="186337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39163046308_3_3"/>
          <p:cNvSpPr txBox="1"/>
          <p:nvPr/>
        </p:nvSpPr>
        <p:spPr>
          <a:xfrm>
            <a:off x="884150" y="776500"/>
            <a:ext cx="148428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latin typeface="Montserrat"/>
                <a:ea typeface="Montserrat"/>
                <a:cs typeface="Montserrat"/>
                <a:sym typeface="Montserrat"/>
              </a:rPr>
              <a:t>POR QUE LA AI GENERA MEJOR CODIGO?</a:t>
            </a:r>
            <a:endParaRPr b="1" i="0" sz="4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Por Qué IA Genera Mejor Código que Humanos&#10;DimensiónDesarrollador HumanoIA DeveloperConsistencyVariable, fatiga mental100% consistente, sin fatigaBest PracticesRequiere años experienciaConoce miles de proyectosPatternsAprende gradualmenteDomina todos los patternsCode QualityDepende de expertiseEnterprise-grade siempreSpeed100-200 líneas/día1000+ líneas/día&#10;Principio Clave: IA ha visto millones de líneas de código, conoce mejores prácticas de miles de proyectos&#10;Trade-off Real: Humano diseña → IA implementa → Humano valida" id="102" name="Google Shape;102;g39163046308_3_3"/>
          <p:cNvPicPr preferRelativeResize="0"/>
          <p:nvPr/>
        </p:nvPicPr>
        <p:blipFill rotWithShape="1">
          <a:blip r:embed="rId5">
            <a:alphaModFix/>
          </a:blip>
          <a:srcRect b="0" l="8881" r="8268" t="12663"/>
          <a:stretch/>
        </p:blipFill>
        <p:spPr>
          <a:xfrm>
            <a:off x="1887300" y="1863375"/>
            <a:ext cx="16329500" cy="9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g3aab5e26f3d_0_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66375" y="132952"/>
            <a:ext cx="2290138" cy="58029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aab5e26f3d_0_27"/>
          <p:cNvSpPr txBox="1"/>
          <p:nvPr/>
        </p:nvSpPr>
        <p:spPr>
          <a:xfrm>
            <a:off x="795530" y="865125"/>
            <a:ext cx="111789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chemeClr val="dk1"/>
                </a:solidFill>
              </a:rPr>
              <a:t>PATRONES DE DISEÑO ENTERPRISE</a:t>
            </a:r>
            <a:endParaRPr b="1" sz="4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sz="4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Que se vea mucho mas moderna, porque se parece a la infografía que me generaste actualmente en cuestión de diseno" id="109" name="Google Shape;109;g3aab5e26f3d_0_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1850" y="1686275"/>
            <a:ext cx="16897149" cy="920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g3aab5e26f3d_0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66375" y="132952"/>
            <a:ext cx="2290138" cy="58029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3aab5e26f3d_0_62"/>
          <p:cNvSpPr txBox="1"/>
          <p:nvPr/>
        </p:nvSpPr>
        <p:spPr>
          <a:xfrm>
            <a:off x="795525" y="865125"/>
            <a:ext cx="8144400" cy="9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chemeClr val="dk1"/>
                </a:solidFill>
              </a:rPr>
              <a:t>ESTABLECIENDO LAS RULES</a:t>
            </a:r>
            <a:endParaRPr b="1" i="0" sz="4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Carpeta Principal&#10;.amazonq/ &#10;Contenido:&#10;.amazonq/&#10;└── rules/&#10;    ├── README.md                          # Guía de uso&#10;    ├── 00-CORE-PHILOSOPHY.md              # Filosofía YAGNI/KISS&#10;    ├── 01-SPRING-BOOT-PATTERNS.md         # Patrones Spring Boot&#10;    ├── 02-JPA-ENTITIES.md                 # JPA + Database&#10;    └── 03-DTO-VALIDATION.md               # DTOs + Validación" id="116" name="Google Shape;116;g3aab5e26f3d_0_62"/>
          <p:cNvPicPr preferRelativeResize="0"/>
          <p:nvPr/>
        </p:nvPicPr>
        <p:blipFill rotWithShape="1">
          <a:blip r:embed="rId4">
            <a:alphaModFix/>
          </a:blip>
          <a:srcRect b="0" l="0" r="0" t="20911"/>
          <a:stretch/>
        </p:blipFill>
        <p:spPr>
          <a:xfrm>
            <a:off x="1250600" y="2987475"/>
            <a:ext cx="17602900" cy="7749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aab5e26f3d_0_62"/>
          <p:cNvSpPr txBox="1"/>
          <p:nvPr/>
        </p:nvSpPr>
        <p:spPr>
          <a:xfrm>
            <a:off x="6324700" y="1993263"/>
            <a:ext cx="7454700" cy="9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</a:rPr>
              <a:t>EJEMPLO DE ESTRCUTURA DE RULES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g3aee1ffb01f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66375" y="132952"/>
            <a:ext cx="2290138" cy="58029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aee1ffb01f_0_14"/>
          <p:cNvSpPr txBox="1"/>
          <p:nvPr/>
        </p:nvSpPr>
        <p:spPr>
          <a:xfrm>
            <a:off x="795525" y="865125"/>
            <a:ext cx="8144400" cy="9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chemeClr val="dk1"/>
                </a:solidFill>
              </a:rPr>
              <a:t>ESTABLECIENDO LAS RULES</a:t>
            </a:r>
            <a:endParaRPr b="1" i="0" sz="4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generadme una imagen que ilustre l parametrizacion de reglas que se vea muy innovador" id="124" name="Google Shape;124;g3aee1ffb01f_0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4950" y="1752290"/>
            <a:ext cx="16754200" cy="932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g3aee1ffb01f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66375" y="132952"/>
            <a:ext cx="2290138" cy="58029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aee1ffb01f_0_6"/>
          <p:cNvSpPr txBox="1"/>
          <p:nvPr/>
        </p:nvSpPr>
        <p:spPr>
          <a:xfrm>
            <a:off x="795525" y="865125"/>
            <a:ext cx="8144400" cy="9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chemeClr val="dk1"/>
                </a:solidFill>
              </a:rPr>
              <a:t>VAMOS A IMPLEMENTAR</a:t>
            </a:r>
            <a:endParaRPr b="1" i="0" sz="4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QUE SE VEA MUCHO MAS FITURISTA" id="131" name="Google Shape;131;g3aee1ffb01f_0_6"/>
          <p:cNvPicPr preferRelativeResize="0"/>
          <p:nvPr/>
        </p:nvPicPr>
        <p:blipFill rotWithShape="1">
          <a:blip r:embed="rId4">
            <a:alphaModFix/>
          </a:blip>
          <a:srcRect b="0" l="0" r="0" t="14229"/>
          <a:stretch/>
        </p:blipFill>
        <p:spPr>
          <a:xfrm>
            <a:off x="687150" y="1942575"/>
            <a:ext cx="18729775" cy="894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 txBox="1"/>
          <p:nvPr>
            <p:ph type="title"/>
          </p:nvPr>
        </p:nvSpPr>
        <p:spPr>
          <a:xfrm>
            <a:off x="1231297" y="6268050"/>
            <a:ext cx="29952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¡Gracias!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2025-11-25T14:03:09Z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2025-11-25T00:00:00Z</vt:filetime>
  </property>
  <property fmtid="{D5CDD505-2E9C-101B-9397-08002B2CF9AE}" pid="3" name="Creator">
    <vt:lpwstr>www.smallpdf.com</vt:lpwstr>
  </property>
  <property fmtid="{D5CDD505-2E9C-101B-9397-08002B2CF9AE}" pid="4" name="LastSaved">
    <vt:filetime>2025-11-25T00:00:00Z</vt:filetime>
  </property>
  <property fmtid="{D5CDD505-2E9C-101B-9397-08002B2CF9AE}" pid="5" name="Producer">
    <vt:lpwstr>3-Heights(TM) PDF Security Shell 4.8.25.2 (http://www.pdf-tools.com)</vt:lpwstr>
  </property>
</Properties>
</file>