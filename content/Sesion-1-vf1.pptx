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11309350" cx="20104100"/>
  <p:notesSz cx="20104100" cy="11309350"/>
  <p:embeddedFontLst>
    <p:embeddedFont>
      <p:font typeface="Montserrat"/>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2" roundtripDataSignature="AMtx7mioxb88RHS2ZWUS/z2ym0Gmtfp7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753F76-7877-4DB5-90A5-425869773EC4}">
  <a:tblStyle styleId="{94753F76-7877-4DB5-90A5-425869773E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Montserrat-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Montserrat-bold.fntdata"/><Relationship Id="rId6" Type="http://schemas.openxmlformats.org/officeDocument/2006/relationships/notesMaster" Target="notesMasters/notesMaster1.xml"/><Relationship Id="rId18"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12aa4b82b_0_3: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912aa4b82b_0_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12aa4b82b_0_16: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912aa4b82b_0_1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ca3a17823_0_2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ca3a17823_0_24: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ca3a17823_0_3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ca3a17823_0_33: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ca3a17823_0_2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ca3a17823_0_29: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ca3a17823_0_12: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aca3a17823_0_1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12d451369_0_0: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912d451369_0_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ca3a17823_0_3: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aca3a17823_0_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cec2a8e70_0_4: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acec2a8e70_0_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3" name="Shape 13"/>
        <p:cNvGrpSpPr/>
        <p:nvPr/>
      </p:nvGrpSpPr>
      <p:grpSpPr>
        <a:xfrm>
          <a:off x="0" y="0"/>
          <a:ext cx="0" cy="0"/>
          <a:chOff x="0" y="0"/>
          <a:chExt cx="0" cy="0"/>
        </a:xfrm>
      </p:grpSpPr>
      <p:sp>
        <p:nvSpPr>
          <p:cNvPr id="14" name="Google Shape;14;p6"/>
          <p:cNvSpPr txBox="1"/>
          <p:nvPr>
            <p:ph type="title"/>
          </p:nvPr>
        </p:nvSpPr>
        <p:spPr>
          <a:xfrm>
            <a:off x="927456" y="6204754"/>
            <a:ext cx="2063114" cy="70421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50">
                <a:solidFill>
                  <a:srgbClr val="DF3D3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6"/>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6"/>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8" name="Shape 18"/>
        <p:cNvGrpSpPr/>
        <p:nvPr/>
      </p:nvGrpSpPr>
      <p:grpSpPr>
        <a:xfrm>
          <a:off x="0" y="0"/>
          <a:ext cx="0" cy="0"/>
          <a:chOff x="0" y="0"/>
          <a:chExt cx="0" cy="0"/>
        </a:xfrm>
      </p:grpSpPr>
      <p:pic>
        <p:nvPicPr>
          <p:cNvPr id="19" name="Google Shape;19;p7"/>
          <p:cNvPicPr preferRelativeResize="0"/>
          <p:nvPr/>
        </p:nvPicPr>
        <p:blipFill rotWithShape="1">
          <a:blip r:embed="rId2">
            <a:alphaModFix/>
          </a:blip>
          <a:srcRect b="0" l="0" r="0" t="0"/>
          <a:stretch/>
        </p:blipFill>
        <p:spPr>
          <a:xfrm>
            <a:off x="17566375" y="132952"/>
            <a:ext cx="2290139" cy="580296"/>
          </a:xfrm>
          <a:prstGeom prst="rect">
            <a:avLst/>
          </a:prstGeom>
          <a:noFill/>
          <a:ln>
            <a:noFill/>
          </a:ln>
        </p:spPr>
      </p:pic>
      <p:pic>
        <p:nvPicPr>
          <p:cNvPr id="20" name="Google Shape;20;p7"/>
          <p:cNvPicPr preferRelativeResize="0"/>
          <p:nvPr/>
        </p:nvPicPr>
        <p:blipFill rotWithShape="1">
          <a:blip r:embed="rId3">
            <a:alphaModFix/>
          </a:blip>
          <a:srcRect b="0" l="0" r="0" t="0"/>
          <a:stretch/>
        </p:blipFill>
        <p:spPr>
          <a:xfrm>
            <a:off x="0" y="0"/>
            <a:ext cx="1946208" cy="1863370"/>
          </a:xfrm>
          <a:prstGeom prst="rect">
            <a:avLst/>
          </a:prstGeom>
          <a:noFill/>
          <a:ln>
            <a:noFill/>
          </a:ln>
        </p:spPr>
      </p:pic>
      <p:sp>
        <p:nvSpPr>
          <p:cNvPr id="21" name="Google Shape;21;p7"/>
          <p:cNvSpPr txBox="1"/>
          <p:nvPr>
            <p:ph type="title"/>
          </p:nvPr>
        </p:nvSpPr>
        <p:spPr>
          <a:xfrm>
            <a:off x="927456" y="6204754"/>
            <a:ext cx="2063114" cy="70421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50">
                <a:solidFill>
                  <a:srgbClr val="DF3D3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7"/>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7"/>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7"/>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26" name="Shape 26"/>
        <p:cNvGrpSpPr/>
        <p:nvPr/>
      </p:nvGrpSpPr>
      <p:grpSpPr>
        <a:xfrm>
          <a:off x="0" y="0"/>
          <a:ext cx="0" cy="0"/>
          <a:chOff x="0" y="0"/>
          <a:chExt cx="0" cy="0"/>
        </a:xfrm>
      </p:grpSpPr>
      <p:sp>
        <p:nvSpPr>
          <p:cNvPr id="27" name="Google Shape;27;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
        <p:nvSpPr>
          <p:cNvPr id="31" name="Google Shape;31;p9"/>
          <p:cNvSpPr txBox="1"/>
          <p:nvPr>
            <p:ph type="ctrTitle"/>
          </p:nvPr>
        </p:nvSpPr>
        <p:spPr>
          <a:xfrm>
            <a:off x="1507807" y="3505898"/>
            <a:ext cx="17088486" cy="237496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50">
                <a:solidFill>
                  <a:srgbClr val="DF3D3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9"/>
          <p:cNvSpPr txBox="1"/>
          <p:nvPr>
            <p:ph idx="1" type="subTitle"/>
          </p:nvPr>
        </p:nvSpPr>
        <p:spPr>
          <a:xfrm>
            <a:off x="3015615" y="6333236"/>
            <a:ext cx="14072870" cy="28273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9"/>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6" name="Shape 36"/>
        <p:cNvGrpSpPr/>
        <p:nvPr/>
      </p:nvGrpSpPr>
      <p:grpSpPr>
        <a:xfrm>
          <a:off x="0" y="0"/>
          <a:ext cx="0" cy="0"/>
          <a:chOff x="0" y="0"/>
          <a:chExt cx="0" cy="0"/>
        </a:xfrm>
      </p:grpSpPr>
      <p:sp>
        <p:nvSpPr>
          <p:cNvPr id="37" name="Google Shape;37;p10"/>
          <p:cNvSpPr txBox="1"/>
          <p:nvPr>
            <p:ph type="title"/>
          </p:nvPr>
        </p:nvSpPr>
        <p:spPr>
          <a:xfrm>
            <a:off x="927456" y="6204754"/>
            <a:ext cx="2063114" cy="70421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50">
                <a:solidFill>
                  <a:srgbClr val="DF3D3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0"/>
          <p:cNvSpPr txBox="1"/>
          <p:nvPr>
            <p:ph idx="1" type="body"/>
          </p:nvPr>
        </p:nvSpPr>
        <p:spPr>
          <a:xfrm>
            <a:off x="1005205" y="2601150"/>
            <a:ext cx="8745284" cy="746417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10"/>
          <p:cNvSpPr txBox="1"/>
          <p:nvPr>
            <p:ph idx="2" type="body"/>
          </p:nvPr>
        </p:nvSpPr>
        <p:spPr>
          <a:xfrm>
            <a:off x="10353611" y="2601150"/>
            <a:ext cx="8745284" cy="746417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0"/>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0"/>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5"/>
          <p:cNvPicPr preferRelativeResize="0"/>
          <p:nvPr/>
        </p:nvPicPr>
        <p:blipFill rotWithShape="1">
          <a:blip r:embed="rId1">
            <a:alphaModFix/>
          </a:blip>
          <a:srcRect b="0" l="0" r="0" t="0"/>
          <a:stretch/>
        </p:blipFill>
        <p:spPr>
          <a:xfrm>
            <a:off x="0" y="0"/>
            <a:ext cx="20081388" cy="11283569"/>
          </a:xfrm>
          <a:prstGeom prst="rect">
            <a:avLst/>
          </a:prstGeom>
          <a:noFill/>
          <a:ln>
            <a:noFill/>
          </a:ln>
        </p:spPr>
      </p:pic>
      <p:sp>
        <p:nvSpPr>
          <p:cNvPr id="7" name="Google Shape;7;p5"/>
          <p:cNvSpPr/>
          <p:nvPr/>
        </p:nvSpPr>
        <p:spPr>
          <a:xfrm>
            <a:off x="771662" y="6002717"/>
            <a:ext cx="7084059" cy="1283970"/>
          </a:xfrm>
          <a:custGeom>
            <a:rect b="b" l="l" r="r" t="t"/>
            <a:pathLst>
              <a:path extrusionOk="0" h="1283970" w="7084059">
                <a:moveTo>
                  <a:pt x="6865948" y="0"/>
                </a:moveTo>
                <a:lnTo>
                  <a:pt x="217783" y="0"/>
                </a:lnTo>
                <a:lnTo>
                  <a:pt x="168101" y="5794"/>
                </a:lnTo>
                <a:lnTo>
                  <a:pt x="122360" y="22278"/>
                </a:lnTo>
                <a:lnTo>
                  <a:pt x="81909" y="48102"/>
                </a:lnTo>
                <a:lnTo>
                  <a:pt x="48098" y="81915"/>
                </a:lnTo>
                <a:lnTo>
                  <a:pt x="22276" y="122368"/>
                </a:lnTo>
                <a:lnTo>
                  <a:pt x="5794" y="168111"/>
                </a:lnTo>
                <a:lnTo>
                  <a:pt x="0" y="217794"/>
                </a:lnTo>
                <a:lnTo>
                  <a:pt x="0" y="1065642"/>
                </a:lnTo>
                <a:lnTo>
                  <a:pt x="5794" y="1115325"/>
                </a:lnTo>
                <a:lnTo>
                  <a:pt x="22276" y="1161066"/>
                </a:lnTo>
                <a:lnTo>
                  <a:pt x="48098" y="1201517"/>
                </a:lnTo>
                <a:lnTo>
                  <a:pt x="81909" y="1235328"/>
                </a:lnTo>
                <a:lnTo>
                  <a:pt x="122360" y="1261150"/>
                </a:lnTo>
                <a:lnTo>
                  <a:pt x="168101" y="1277632"/>
                </a:lnTo>
                <a:lnTo>
                  <a:pt x="217783" y="1283426"/>
                </a:lnTo>
                <a:lnTo>
                  <a:pt x="6865948" y="1283426"/>
                </a:lnTo>
                <a:lnTo>
                  <a:pt x="6915630" y="1277632"/>
                </a:lnTo>
                <a:lnTo>
                  <a:pt x="6961371" y="1261150"/>
                </a:lnTo>
                <a:lnTo>
                  <a:pt x="7001822" y="1235328"/>
                </a:lnTo>
                <a:lnTo>
                  <a:pt x="7035633" y="1201517"/>
                </a:lnTo>
                <a:lnTo>
                  <a:pt x="7061455" y="1161066"/>
                </a:lnTo>
                <a:lnTo>
                  <a:pt x="7077937" y="1115325"/>
                </a:lnTo>
                <a:lnTo>
                  <a:pt x="7083731" y="1065642"/>
                </a:lnTo>
                <a:lnTo>
                  <a:pt x="7083731" y="217794"/>
                </a:lnTo>
                <a:lnTo>
                  <a:pt x="7077937" y="168111"/>
                </a:lnTo>
                <a:lnTo>
                  <a:pt x="7061455" y="122368"/>
                </a:lnTo>
                <a:lnTo>
                  <a:pt x="7035633" y="81915"/>
                </a:lnTo>
                <a:lnTo>
                  <a:pt x="7001822" y="48102"/>
                </a:lnTo>
                <a:lnTo>
                  <a:pt x="6961371" y="22278"/>
                </a:lnTo>
                <a:lnTo>
                  <a:pt x="6915630" y="5794"/>
                </a:lnTo>
                <a:lnTo>
                  <a:pt x="68659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5"/>
          <p:cNvSpPr txBox="1"/>
          <p:nvPr>
            <p:ph type="title"/>
          </p:nvPr>
        </p:nvSpPr>
        <p:spPr>
          <a:xfrm>
            <a:off x="927456" y="6204754"/>
            <a:ext cx="2063114" cy="70421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450" u="none" cap="none" strike="noStrike">
                <a:solidFill>
                  <a:srgbClr val="DF3D3F"/>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5"/>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5"/>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5"/>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OIcQOfN1qak"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p:nvPr/>
        </p:nvSpPr>
        <p:spPr>
          <a:xfrm>
            <a:off x="710825" y="5953075"/>
            <a:ext cx="11436000" cy="1340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 name="Google Shape;48;p1"/>
          <p:cNvSpPr txBox="1"/>
          <p:nvPr>
            <p:ph type="title"/>
          </p:nvPr>
        </p:nvSpPr>
        <p:spPr>
          <a:xfrm>
            <a:off x="931174" y="6274375"/>
            <a:ext cx="11436000" cy="69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FUNDAMENTOS DE IA Y AMAZON Q</a:t>
            </a:r>
            <a:endParaRPr/>
          </a:p>
        </p:txBody>
      </p:sp>
      <p:sp>
        <p:nvSpPr>
          <p:cNvPr id="49" name="Google Shape;49;p1"/>
          <p:cNvSpPr txBox="1"/>
          <p:nvPr/>
        </p:nvSpPr>
        <p:spPr>
          <a:xfrm>
            <a:off x="931250" y="7465450"/>
            <a:ext cx="9004800" cy="520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3300">
                <a:solidFill>
                  <a:srgbClr val="FFFFFF"/>
                </a:solidFill>
                <a:latin typeface="Trebuchet MS"/>
                <a:ea typeface="Trebuchet MS"/>
                <a:cs typeface="Trebuchet MS"/>
                <a:sym typeface="Trebuchet MS"/>
              </a:rPr>
              <a:t>Amazon Q como protagonista del desarrollo</a:t>
            </a:r>
            <a:endParaRPr sz="33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g3912aa4b82b_0_3"/>
          <p:cNvPicPr preferRelativeResize="0"/>
          <p:nvPr/>
        </p:nvPicPr>
        <p:blipFill rotWithShape="1">
          <a:blip r:embed="rId3">
            <a:alphaModFix/>
          </a:blip>
          <a:srcRect b="0" l="0" r="0" t="0"/>
          <a:stretch/>
        </p:blipFill>
        <p:spPr>
          <a:xfrm>
            <a:off x="17566375" y="132952"/>
            <a:ext cx="2290138" cy="580296"/>
          </a:xfrm>
          <a:prstGeom prst="rect">
            <a:avLst/>
          </a:prstGeom>
          <a:noFill/>
          <a:ln>
            <a:noFill/>
          </a:ln>
        </p:spPr>
      </p:pic>
      <p:pic>
        <p:nvPicPr>
          <p:cNvPr id="55" name="Google Shape;55;g3912aa4b82b_0_3"/>
          <p:cNvPicPr preferRelativeResize="0"/>
          <p:nvPr/>
        </p:nvPicPr>
        <p:blipFill rotWithShape="1">
          <a:blip r:embed="rId4">
            <a:alphaModFix/>
          </a:blip>
          <a:srcRect b="0" l="0" r="0" t="0"/>
          <a:stretch/>
        </p:blipFill>
        <p:spPr>
          <a:xfrm>
            <a:off x="0" y="0"/>
            <a:ext cx="1946208" cy="1863370"/>
          </a:xfrm>
          <a:prstGeom prst="rect">
            <a:avLst/>
          </a:prstGeom>
          <a:noFill/>
          <a:ln>
            <a:noFill/>
          </a:ln>
        </p:spPr>
      </p:pic>
      <p:sp>
        <p:nvSpPr>
          <p:cNvPr id="56" name="Google Shape;56;g3912aa4b82b_0_3"/>
          <p:cNvSpPr txBox="1"/>
          <p:nvPr/>
        </p:nvSpPr>
        <p:spPr>
          <a:xfrm>
            <a:off x="884150" y="776500"/>
            <a:ext cx="148428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FUNDAMENTOS: DESARROLLO IMPULSADO POR IA</a:t>
            </a:r>
            <a:endParaRPr b="1" sz="4000">
              <a:latin typeface="Montserrat"/>
              <a:ea typeface="Montserrat"/>
              <a:cs typeface="Montserrat"/>
              <a:sym typeface="Montserrat"/>
            </a:endParaRPr>
          </a:p>
        </p:txBody>
      </p:sp>
      <p:graphicFrame>
        <p:nvGraphicFramePr>
          <p:cNvPr id="57" name="Google Shape;57;g3912aa4b82b_0_3"/>
          <p:cNvGraphicFramePr/>
          <p:nvPr/>
        </p:nvGraphicFramePr>
        <p:xfrm>
          <a:off x="4550825" y="5269963"/>
          <a:ext cx="3000000" cy="3000000"/>
        </p:xfrm>
        <a:graphic>
          <a:graphicData uri="http://schemas.openxmlformats.org/drawingml/2006/table">
            <a:tbl>
              <a:tblPr>
                <a:noFill/>
                <a:tableStyleId>{94753F76-7877-4DB5-90A5-425869773EC4}</a:tableStyleId>
              </a:tblPr>
              <a:tblGrid>
                <a:gridCol w="5210225"/>
                <a:gridCol w="5792225"/>
              </a:tblGrid>
              <a:tr h="654925">
                <a:tc>
                  <a:txBody>
                    <a:bodyPr/>
                    <a:lstStyle/>
                    <a:p>
                      <a:pPr indent="0" lvl="0" marL="0" rtl="0" algn="ctr">
                        <a:lnSpc>
                          <a:spcPct val="115000"/>
                        </a:lnSpc>
                        <a:spcBef>
                          <a:spcPts val="0"/>
                        </a:spcBef>
                        <a:spcAft>
                          <a:spcPts val="0"/>
                        </a:spcAft>
                        <a:buNone/>
                      </a:pPr>
                      <a:r>
                        <a:rPr b="1" lang="en-US" sz="3000">
                          <a:latin typeface="Times New Roman"/>
                          <a:ea typeface="Times New Roman"/>
                          <a:cs typeface="Times New Roman"/>
                          <a:sym typeface="Times New Roman"/>
                        </a:rPr>
                        <a:t>Desarrollo Tradicional</a:t>
                      </a:r>
                      <a:endParaRPr b="1"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3000">
                          <a:latin typeface="Times New Roman"/>
                          <a:ea typeface="Times New Roman"/>
                          <a:cs typeface="Times New Roman"/>
                          <a:sym typeface="Times New Roman"/>
                        </a:rPr>
                        <a:t>IA-Driven Development</a:t>
                      </a:r>
                      <a:endParaRPr b="1"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70625">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Código escrito manualmente</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70-80% generado por IA</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54925">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Documentación manual</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Auto-generada y actualizada</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54925">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Testing manual y tedioso</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Coverage &gt;90% automático</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54925">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Arquitectura desde cero</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latin typeface="Times New Roman"/>
                          <a:ea typeface="Times New Roman"/>
                          <a:cs typeface="Times New Roman"/>
                          <a:sym typeface="Times New Roman"/>
                        </a:rPr>
                        <a:t>Patrones enterprise instantáneos</a:t>
                      </a:r>
                      <a:endParaRPr sz="3000">
                        <a:latin typeface="Times New Roman"/>
                        <a:ea typeface="Times New Roman"/>
                        <a:cs typeface="Times New Roman"/>
                        <a:sym typeface="Times New Roman"/>
                      </a:endParaRPr>
                    </a:p>
                  </a:txBody>
                  <a:tcPr marT="9525" marB="9525" marR="9525" marL="95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58" name="Google Shape;58;g3912aa4b82b_0_3"/>
          <p:cNvSpPr txBox="1"/>
          <p:nvPr/>
        </p:nvSpPr>
        <p:spPr>
          <a:xfrm>
            <a:off x="1317050" y="9480550"/>
            <a:ext cx="107661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3000">
                <a:latin typeface="Times New Roman"/>
                <a:ea typeface="Times New Roman"/>
                <a:cs typeface="Times New Roman"/>
                <a:sym typeface="Times New Roman"/>
              </a:rPr>
              <a:t>Cambio de Paradigma Fundamental</a:t>
            </a:r>
            <a:endParaRPr b="1" sz="3000">
              <a:latin typeface="Times New Roman"/>
              <a:ea typeface="Times New Roman"/>
              <a:cs typeface="Times New Roman"/>
              <a:sym typeface="Times New Roman"/>
            </a:endParaRPr>
          </a:p>
          <a:p>
            <a:pPr indent="0" lvl="0" marL="0" rtl="0" algn="l">
              <a:lnSpc>
                <a:spcPct val="115000"/>
              </a:lnSpc>
              <a:spcBef>
                <a:spcPts val="800"/>
              </a:spcBef>
              <a:spcAft>
                <a:spcPts val="800"/>
              </a:spcAft>
              <a:buNone/>
            </a:pPr>
            <a:r>
              <a:rPr b="1" lang="en-US" sz="3000">
                <a:latin typeface="Times New Roman"/>
                <a:ea typeface="Times New Roman"/>
                <a:cs typeface="Times New Roman"/>
                <a:sym typeface="Times New Roman"/>
              </a:rPr>
              <a:t>Principio:</a:t>
            </a:r>
            <a:r>
              <a:rPr lang="en-US" sz="3000">
                <a:latin typeface="Times New Roman"/>
                <a:ea typeface="Times New Roman"/>
                <a:cs typeface="Times New Roman"/>
                <a:sym typeface="Times New Roman"/>
              </a:rPr>
              <a:t> IA como co-piloto permanente, no consulta ocasional</a:t>
            </a:r>
            <a:endParaRPr sz="3000">
              <a:latin typeface="Times New Roman"/>
              <a:ea typeface="Times New Roman"/>
              <a:cs typeface="Times New Roman"/>
              <a:sym typeface="Times New Roman"/>
            </a:endParaRPr>
          </a:p>
        </p:txBody>
      </p:sp>
      <p:sp>
        <p:nvSpPr>
          <p:cNvPr id="59" name="Google Shape;59;g3912aa4b82b_0_3"/>
          <p:cNvSpPr txBox="1"/>
          <p:nvPr/>
        </p:nvSpPr>
        <p:spPr>
          <a:xfrm>
            <a:off x="914400" y="2133600"/>
            <a:ext cx="18482400" cy="239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3000">
                <a:solidFill>
                  <a:schemeClr val="dk1"/>
                </a:solidFill>
              </a:rPr>
              <a:t>IA-POWERED SPRING BOOT DEVELOPMENT</a:t>
            </a:r>
            <a:endParaRPr b="1" sz="3000">
              <a:solidFill>
                <a:schemeClr val="dk1"/>
              </a:solidFill>
            </a:endParaRPr>
          </a:p>
          <a:p>
            <a:pPr indent="-419100" lvl="0" marL="457200" rtl="0" algn="l">
              <a:lnSpc>
                <a:spcPct val="115000"/>
              </a:lnSpc>
              <a:spcBef>
                <a:spcPts val="1200"/>
              </a:spcBef>
              <a:spcAft>
                <a:spcPts val="0"/>
              </a:spcAft>
              <a:buClr>
                <a:schemeClr val="dk1"/>
              </a:buClr>
              <a:buSzPts val="3000"/>
              <a:buChar char="●"/>
            </a:pPr>
            <a:r>
              <a:rPr lang="en-US" sz="3000">
                <a:solidFill>
                  <a:schemeClr val="dk1"/>
                </a:solidFill>
              </a:rPr>
              <a:t>Sesión 1 de 6 | Duración: 2 horas</a:t>
            </a:r>
            <a:endParaRPr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rPr>
              <a:t>Proyecto Real:</a:t>
            </a:r>
            <a:r>
              <a:rPr lang="en-US" sz="3000">
                <a:solidFill>
                  <a:schemeClr val="dk1"/>
                </a:solidFill>
              </a:rPr>
              <a:t> Sistema Ticketero Bancario con Amazon Q</a:t>
            </a:r>
            <a:endParaRPr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rPr>
              <a:t>Filosofía 80/20:</a:t>
            </a:r>
            <a:r>
              <a:rPr lang="en-US" sz="3000">
                <a:solidFill>
                  <a:schemeClr val="dk1"/>
                </a:solidFill>
              </a:rPr>
              <a:t> 20% del esfuerzo → 80% del valor funcional</a:t>
            </a:r>
            <a:endParaRPr sz="3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g3912aa4b82b_0_16"/>
          <p:cNvPicPr preferRelativeResize="0"/>
          <p:nvPr/>
        </p:nvPicPr>
        <p:blipFill rotWithShape="1">
          <a:blip r:embed="rId3">
            <a:alphaModFix/>
          </a:blip>
          <a:srcRect b="0" l="0" r="0" t="0"/>
          <a:stretch/>
        </p:blipFill>
        <p:spPr>
          <a:xfrm>
            <a:off x="17566375" y="132952"/>
            <a:ext cx="2290138" cy="580296"/>
          </a:xfrm>
          <a:prstGeom prst="rect">
            <a:avLst/>
          </a:prstGeom>
          <a:noFill/>
          <a:ln>
            <a:noFill/>
          </a:ln>
        </p:spPr>
      </p:pic>
      <p:pic>
        <p:nvPicPr>
          <p:cNvPr id="65" name="Google Shape;65;g3912aa4b82b_0_16"/>
          <p:cNvPicPr preferRelativeResize="0"/>
          <p:nvPr/>
        </p:nvPicPr>
        <p:blipFill rotWithShape="1">
          <a:blip r:embed="rId4">
            <a:alphaModFix/>
          </a:blip>
          <a:srcRect b="0" l="0" r="0" t="0"/>
          <a:stretch/>
        </p:blipFill>
        <p:spPr>
          <a:xfrm>
            <a:off x="0" y="0"/>
            <a:ext cx="1946208" cy="1863370"/>
          </a:xfrm>
          <a:prstGeom prst="rect">
            <a:avLst/>
          </a:prstGeom>
          <a:noFill/>
          <a:ln>
            <a:noFill/>
          </a:ln>
        </p:spPr>
      </p:pic>
      <p:sp>
        <p:nvSpPr>
          <p:cNvPr id="66" name="Google Shape;66;g3912aa4b82b_0_16"/>
          <p:cNvSpPr txBox="1"/>
          <p:nvPr/>
        </p:nvSpPr>
        <p:spPr>
          <a:xfrm>
            <a:off x="884150" y="776500"/>
            <a:ext cx="129639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….COMO FUNCIONA LA IA</a:t>
            </a:r>
            <a:endParaRPr b="1" sz="4000">
              <a:latin typeface="Montserrat"/>
              <a:ea typeface="Montserrat"/>
              <a:cs typeface="Montserrat"/>
              <a:sym typeface="Montserrat"/>
            </a:endParaRPr>
          </a:p>
        </p:txBody>
      </p:sp>
      <p:sp>
        <p:nvSpPr>
          <p:cNvPr id="67" name="Google Shape;67;g3912aa4b82b_0_16"/>
          <p:cNvSpPr txBox="1"/>
          <p:nvPr/>
        </p:nvSpPr>
        <p:spPr>
          <a:xfrm>
            <a:off x="4846725" y="6524150"/>
            <a:ext cx="72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sp>
        <p:nvSpPr>
          <p:cNvPr id="68" name="Google Shape;68;g3912aa4b82b_0_16"/>
          <p:cNvSpPr txBox="1"/>
          <p:nvPr/>
        </p:nvSpPr>
        <p:spPr>
          <a:xfrm>
            <a:off x="4214450" y="8989725"/>
            <a:ext cx="168372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i="1" sz="2800"/>
          </a:p>
        </p:txBody>
      </p:sp>
      <p:pic>
        <p:nvPicPr>
          <p:cNvPr id="69" name="Google Shape;69;g3912aa4b82b_0_16"/>
          <p:cNvPicPr preferRelativeResize="0"/>
          <p:nvPr/>
        </p:nvPicPr>
        <p:blipFill>
          <a:blip r:embed="rId5">
            <a:alphaModFix/>
          </a:blip>
          <a:stretch>
            <a:fillRect/>
          </a:stretch>
        </p:blipFill>
        <p:spPr>
          <a:xfrm>
            <a:off x="884150" y="2208700"/>
            <a:ext cx="18403031" cy="7777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g3aca3a17823_0_24"/>
          <p:cNvPicPr preferRelativeResize="0"/>
          <p:nvPr/>
        </p:nvPicPr>
        <p:blipFill>
          <a:blip r:embed="rId3">
            <a:alphaModFix/>
          </a:blip>
          <a:stretch>
            <a:fillRect/>
          </a:stretch>
        </p:blipFill>
        <p:spPr>
          <a:xfrm>
            <a:off x="1415900" y="2059525"/>
            <a:ext cx="17660026" cy="8547100"/>
          </a:xfrm>
          <a:prstGeom prst="rect">
            <a:avLst/>
          </a:prstGeom>
          <a:noFill/>
          <a:ln>
            <a:noFill/>
          </a:ln>
        </p:spPr>
      </p:pic>
      <p:sp>
        <p:nvSpPr>
          <p:cNvPr id="75" name="Google Shape;75;g3aca3a17823_0_24"/>
          <p:cNvSpPr txBox="1"/>
          <p:nvPr/>
        </p:nvSpPr>
        <p:spPr>
          <a:xfrm>
            <a:off x="884150" y="776500"/>
            <a:ext cx="129639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REDES NEURONALES CONVOLUCIONALES</a:t>
            </a:r>
            <a:endParaRPr b="1" sz="4000">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aca3a17823_0_33"/>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https://www.youtube.com/watch?v=OIcQOfN1qak</a:t>
            </a:r>
            <a:endParaRPr/>
          </a:p>
        </p:txBody>
      </p:sp>
      <p:pic>
        <p:nvPicPr>
          <p:cNvPr descr="Is AI as smart as it seems? Exploring the &quot;brain&quot; behind machine learning, neural networker Alona Fyshe delves into the language processing abilities of talkative tech (like the groundbreaking chatbot and internet obsession ChatGPT) and explains how different it is from your own brain -- even though it can sound convincingly human.&#10;&#10;If you love watching TED Talks like this one, become a TED Member to support our mission of spreading ideas: https://ted.com/membership&#10;&#10;Follow TED! &#10;Twitter: https://twitter.com/TEDTalks&#10;Instagram: https://www.instagram.com/ted&#10;Facebook: https://facebook.com/TED&#10;LinkedIn: https://www.linkedin.com/company/ted-conferences&#10;TikTok: https://www.tiktok.com/@tedtoks&#10;&#10;The TED Talks channel features talks, performances and original series from the world's leading thinkers and doers. Subscribe to our channel for videos on Technology, Entertainment and Design — plus science, business, global issues, the arts and more. Visit https://TED.com to get our entire library of TED Talks, transcripts, translations, personalized talk recommendations and more.&#10;&#10;Watch more: https://go.ted.com/alonafyshe&#10;&#10;https://youtu.be/OIcQOfN1qak&#10;&#10;TED's videos may be used for non-commercial purposes under a Creative Commons License, Attribution–Non Commercial–No Derivatives (or the CC BY – NC – ND 4.0 International) and in accordance with our TED Talks Usage Policy: https://www.ted.com/about/our-organization/our-policies-terms/ted-talks-usage-policy. For more information on using TED for commercial purposes (e.g. employee learning, in a film or online course), please submit a Media Request at https://media-requests.ted.com&#10;&#10;#TED #TEDTalks #ai" id="81" name="Google Shape;81;g3aca3a17823_0_33" title="How to Get Inside the &quot;Brain&quot; of AI | Alona Fyshe | TED">
            <a:hlinkClick r:id="rId3"/>
          </p:cNvPr>
          <p:cNvPicPr preferRelativeResize="0"/>
          <p:nvPr/>
        </p:nvPicPr>
        <p:blipFill>
          <a:blip r:embed="rId4">
            <a:alphaModFix/>
          </a:blip>
          <a:stretch>
            <a:fillRect/>
          </a:stretch>
        </p:blipFill>
        <p:spPr>
          <a:xfrm>
            <a:off x="1411825" y="615600"/>
            <a:ext cx="18179175" cy="1022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g3aca3a17823_0_29"/>
          <p:cNvPicPr preferRelativeResize="0"/>
          <p:nvPr/>
        </p:nvPicPr>
        <p:blipFill rotWithShape="1">
          <a:blip r:embed="rId3">
            <a:alphaModFix/>
          </a:blip>
          <a:srcRect b="248" l="0" r="0" t="248"/>
          <a:stretch/>
        </p:blipFill>
        <p:spPr>
          <a:xfrm>
            <a:off x="546100" y="1229475"/>
            <a:ext cx="19011900" cy="91630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g3aca3a17823_0_12"/>
          <p:cNvPicPr preferRelativeResize="0"/>
          <p:nvPr/>
        </p:nvPicPr>
        <p:blipFill rotWithShape="1">
          <a:blip r:embed="rId3">
            <a:alphaModFix/>
          </a:blip>
          <a:srcRect b="0" l="0" r="0" t="0"/>
          <a:stretch/>
        </p:blipFill>
        <p:spPr>
          <a:xfrm>
            <a:off x="17566375" y="132952"/>
            <a:ext cx="2290138" cy="580296"/>
          </a:xfrm>
          <a:prstGeom prst="rect">
            <a:avLst/>
          </a:prstGeom>
          <a:noFill/>
          <a:ln>
            <a:noFill/>
          </a:ln>
        </p:spPr>
      </p:pic>
      <p:pic>
        <p:nvPicPr>
          <p:cNvPr id="92" name="Google Shape;92;g3aca3a17823_0_12"/>
          <p:cNvPicPr preferRelativeResize="0"/>
          <p:nvPr/>
        </p:nvPicPr>
        <p:blipFill rotWithShape="1">
          <a:blip r:embed="rId4">
            <a:alphaModFix/>
          </a:blip>
          <a:srcRect b="0" l="0" r="0" t="0"/>
          <a:stretch/>
        </p:blipFill>
        <p:spPr>
          <a:xfrm>
            <a:off x="0" y="0"/>
            <a:ext cx="1946208" cy="1863370"/>
          </a:xfrm>
          <a:prstGeom prst="rect">
            <a:avLst/>
          </a:prstGeom>
          <a:noFill/>
          <a:ln>
            <a:noFill/>
          </a:ln>
        </p:spPr>
      </p:pic>
      <p:sp>
        <p:nvSpPr>
          <p:cNvPr id="93" name="Google Shape;93;g3aca3a17823_0_12"/>
          <p:cNvSpPr txBox="1"/>
          <p:nvPr/>
        </p:nvSpPr>
        <p:spPr>
          <a:xfrm>
            <a:off x="884150" y="776500"/>
            <a:ext cx="129639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CIENCIA DEL PROMPT ENGINEERING</a:t>
            </a:r>
            <a:endParaRPr b="1" sz="4000">
              <a:latin typeface="Montserrat"/>
              <a:ea typeface="Montserrat"/>
              <a:cs typeface="Montserrat"/>
              <a:sym typeface="Montserrat"/>
            </a:endParaRPr>
          </a:p>
        </p:txBody>
      </p:sp>
      <p:sp>
        <p:nvSpPr>
          <p:cNvPr id="94" name="Google Shape;94;g3aca3a17823_0_12"/>
          <p:cNvSpPr txBox="1"/>
          <p:nvPr/>
        </p:nvSpPr>
        <p:spPr>
          <a:xfrm>
            <a:off x="4846725" y="6524150"/>
            <a:ext cx="72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sp>
        <p:nvSpPr>
          <p:cNvPr id="95" name="Google Shape;95;g3aca3a17823_0_12"/>
          <p:cNvSpPr txBox="1"/>
          <p:nvPr/>
        </p:nvSpPr>
        <p:spPr>
          <a:xfrm>
            <a:off x="1314600" y="1844911"/>
            <a:ext cx="16716900" cy="439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3000">
                <a:solidFill>
                  <a:schemeClr val="dk1"/>
                </a:solidFill>
              </a:rPr>
              <a:t>Fundamentos Aplicados al Sistema Ticketero</a:t>
            </a:r>
            <a:endParaRPr b="1" sz="3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3000">
                <a:solidFill>
                  <a:schemeClr val="dk1"/>
                </a:solidFill>
              </a:rPr>
              <a:t>Anatomía del Prompt Efectivo:</a:t>
            </a:r>
            <a:endParaRPr b="1" sz="3000">
              <a:solidFill>
                <a:schemeClr val="dk1"/>
              </a:solidFill>
            </a:endParaRPr>
          </a:p>
          <a:p>
            <a:pPr indent="-419100" lvl="0" marL="457200" rtl="0" algn="l">
              <a:lnSpc>
                <a:spcPct val="115000"/>
              </a:lnSpc>
              <a:spcBef>
                <a:spcPts val="1200"/>
              </a:spcBef>
              <a:spcAft>
                <a:spcPts val="0"/>
              </a:spcAft>
              <a:buClr>
                <a:schemeClr val="dk1"/>
              </a:buClr>
              <a:buSzPts val="3000"/>
              <a:buChar char="●"/>
            </a:pPr>
            <a:r>
              <a:rPr b="1" lang="en-US" sz="3000">
                <a:solidFill>
                  <a:schemeClr val="dk1"/>
                </a:solidFill>
              </a:rPr>
              <a:t>Context Setting:</a:t>
            </a:r>
            <a:r>
              <a:rPr lang="en-US" sz="3000">
                <a:solidFill>
                  <a:schemeClr val="dk1"/>
                </a:solidFill>
              </a:rPr>
              <a:t> "Arquitecto senior sector bancario chileno"</a:t>
            </a:r>
            <a:endParaRPr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rPr>
              <a:t>Domain Expertise:</a:t>
            </a:r>
            <a:r>
              <a:rPr lang="en-US" sz="3000">
                <a:solidFill>
                  <a:schemeClr val="dk1"/>
                </a:solidFill>
              </a:rPr>
              <a:t> Validaciones RUT, normativas SBIF/CMF</a:t>
            </a:r>
            <a:endParaRPr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rPr>
              <a:t>Technical Constraints:</a:t>
            </a:r>
            <a:r>
              <a:rPr lang="en-US" sz="3000">
                <a:solidFill>
                  <a:schemeClr val="dk1"/>
                </a:solidFill>
              </a:rPr>
              <a:t> Java 21, Spring Boot 3.2, PostgreSQL</a:t>
            </a:r>
            <a:endParaRPr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rPr>
              <a:t>Output Format:</a:t>
            </a:r>
            <a:r>
              <a:rPr lang="en-US" sz="3000">
                <a:solidFill>
                  <a:schemeClr val="dk1"/>
                </a:solidFill>
              </a:rPr>
              <a:t> Clean Architecture, sin over-engineering</a:t>
            </a:r>
            <a:endParaRPr sz="3000">
              <a:solidFill>
                <a:schemeClr val="dk1"/>
              </a:solidFill>
            </a:endParaRPr>
          </a:p>
          <a:p>
            <a:pPr indent="0" lvl="0" marL="0" rtl="0" algn="l">
              <a:lnSpc>
                <a:spcPct val="115000"/>
              </a:lnSpc>
              <a:spcBef>
                <a:spcPts val="1200"/>
              </a:spcBef>
              <a:spcAft>
                <a:spcPts val="1200"/>
              </a:spcAft>
              <a:buNone/>
            </a:pPr>
            <a:r>
              <a:rPr b="1" lang="en-US" sz="3000">
                <a:solidFill>
                  <a:schemeClr val="dk1"/>
                </a:solidFill>
              </a:rPr>
              <a:t>Ejemplo Real - Entidad Ticket:</a:t>
            </a:r>
            <a:endParaRPr b="1" sz="3000">
              <a:solidFill>
                <a:schemeClr val="dk1"/>
              </a:solidFill>
            </a:endParaRPr>
          </a:p>
        </p:txBody>
      </p:sp>
      <p:sp>
        <p:nvSpPr>
          <p:cNvPr id="96" name="Google Shape;96;g3aca3a17823_0_12"/>
          <p:cNvSpPr txBox="1"/>
          <p:nvPr/>
        </p:nvSpPr>
        <p:spPr>
          <a:xfrm>
            <a:off x="584800" y="6295525"/>
            <a:ext cx="19179900" cy="496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i="1" lang="en-US" sz="2100"/>
              <a:t>Actúa como un Arquitecto de Software Senior especializado en el sector bancario chileno. Diseña una entidad JPA llamada 'Ticket' para un sistema de atención de clientes bajo las siguientes especificaciones:</a:t>
            </a:r>
            <a:endParaRPr i="1" sz="2100"/>
          </a:p>
          <a:p>
            <a:pPr indent="0" lvl="0" marL="0" rtl="0" algn="l">
              <a:lnSpc>
                <a:spcPct val="115000"/>
              </a:lnSpc>
              <a:spcBef>
                <a:spcPts val="0"/>
              </a:spcBef>
              <a:spcAft>
                <a:spcPts val="0"/>
              </a:spcAft>
              <a:buClr>
                <a:schemeClr val="dk1"/>
              </a:buClr>
              <a:buSzPts val="1100"/>
              <a:buFont typeface="Arial"/>
              <a:buNone/>
            </a:pPr>
            <a:r>
              <a:rPr b="1" i="1" lang="en-US" sz="2100"/>
              <a:t>CONTEXTO TÉCNICO:</a:t>
            </a:r>
            <a:endParaRPr b="1" i="1" sz="2100"/>
          </a:p>
          <a:p>
            <a:pPr indent="0" lvl="0" marL="0" rtl="0" algn="l">
              <a:lnSpc>
                <a:spcPct val="115000"/>
              </a:lnSpc>
              <a:spcBef>
                <a:spcPts val="0"/>
              </a:spcBef>
              <a:spcAft>
                <a:spcPts val="0"/>
              </a:spcAft>
              <a:buClr>
                <a:schemeClr val="dk1"/>
              </a:buClr>
              <a:buSzPts val="1100"/>
              <a:buFont typeface="Arial"/>
              <a:buNone/>
            </a:pPr>
            <a:r>
              <a:rPr i="1" lang="en-US" sz="2100"/>
              <a:t>- Java 21, Spring Boot 3.2, PostgreSQL.</a:t>
            </a:r>
            <a:endParaRPr i="1" sz="2100"/>
          </a:p>
          <a:p>
            <a:pPr indent="0" lvl="0" marL="0" rtl="0" algn="l">
              <a:lnSpc>
                <a:spcPct val="115000"/>
              </a:lnSpc>
              <a:spcBef>
                <a:spcPts val="0"/>
              </a:spcBef>
              <a:spcAft>
                <a:spcPts val="0"/>
              </a:spcAft>
              <a:buClr>
                <a:schemeClr val="dk1"/>
              </a:buClr>
              <a:buSzPts val="1100"/>
              <a:buFont typeface="Arial"/>
              <a:buNone/>
            </a:pPr>
            <a:r>
              <a:rPr i="1" lang="en-US" sz="2100"/>
              <a:t>- Enfoque pragmático: Evita la sobre-ingeniería (sin BaseEntity abstractas ni interfaces vacías).</a:t>
            </a:r>
            <a:endParaRPr i="1" sz="2100"/>
          </a:p>
          <a:p>
            <a:pPr indent="0" lvl="0" marL="0" rtl="0" algn="l">
              <a:lnSpc>
                <a:spcPct val="115000"/>
              </a:lnSpc>
              <a:spcBef>
                <a:spcPts val="0"/>
              </a:spcBef>
              <a:spcAft>
                <a:spcPts val="0"/>
              </a:spcAft>
              <a:buClr>
                <a:schemeClr val="dk1"/>
              </a:buClr>
              <a:buSzPts val="1100"/>
              <a:buFont typeface="Arial"/>
              <a:buNone/>
            </a:pPr>
            <a:r>
              <a:rPr b="1" i="1" lang="en-US" sz="2100"/>
              <a:t>REQUERIMIENTOS DE DOMINIO:</a:t>
            </a:r>
            <a:endParaRPr b="1" i="1" sz="2100"/>
          </a:p>
          <a:p>
            <a:pPr indent="0" lvl="0" marL="0" rtl="0" algn="l">
              <a:lnSpc>
                <a:spcPct val="115000"/>
              </a:lnSpc>
              <a:spcBef>
                <a:spcPts val="0"/>
              </a:spcBef>
              <a:spcAft>
                <a:spcPts val="0"/>
              </a:spcAft>
              <a:buClr>
                <a:schemeClr val="dk1"/>
              </a:buClr>
              <a:buSzPts val="1100"/>
              <a:buFont typeface="Arial"/>
              <a:buNone/>
            </a:pPr>
            <a:r>
              <a:rPr i="1" lang="en-US" sz="2100"/>
              <a:t>1. Identificador: Debe tener un UUID 'codigo_referencia' generado automáticamente.</a:t>
            </a:r>
            <a:endParaRPr i="1" sz="2100"/>
          </a:p>
          <a:p>
            <a:pPr indent="0" lvl="0" marL="0" rtl="0" algn="l">
              <a:lnSpc>
                <a:spcPct val="115000"/>
              </a:lnSpc>
              <a:spcBef>
                <a:spcPts val="0"/>
              </a:spcBef>
              <a:spcAft>
                <a:spcPts val="0"/>
              </a:spcAft>
              <a:buClr>
                <a:schemeClr val="dk1"/>
              </a:buClr>
              <a:buSzPts val="1100"/>
              <a:buFont typeface="Arial"/>
              <a:buNone/>
            </a:pPr>
            <a:r>
              <a:rPr i="1" lang="en-US" sz="2100"/>
              <a:t>2. Cliente: Campo para RUT chileno que incluya una validación algorítmica real (Módulo 11).</a:t>
            </a:r>
            <a:endParaRPr i="1" sz="2100"/>
          </a:p>
          <a:p>
            <a:pPr indent="0" lvl="0" marL="0" rtl="0" algn="l">
              <a:lnSpc>
                <a:spcPct val="115000"/>
              </a:lnSpc>
              <a:spcBef>
                <a:spcPts val="0"/>
              </a:spcBef>
              <a:spcAft>
                <a:spcPts val="0"/>
              </a:spcAft>
              <a:buClr>
                <a:schemeClr val="dk1"/>
              </a:buClr>
              <a:buSzPts val="1100"/>
              <a:buFont typeface="Arial"/>
              <a:buNone/>
            </a:pPr>
            <a:r>
              <a:rPr i="1" lang="en-US" sz="2100"/>
              <a:t>3. Estados: Enum estricto con el flujo WAITING → CALLED → IN_PROGRESS → COMPLETED.</a:t>
            </a:r>
            <a:endParaRPr i="1" sz="2100"/>
          </a:p>
          <a:p>
            <a:pPr indent="0" lvl="0" marL="0" rtl="0" algn="l">
              <a:lnSpc>
                <a:spcPct val="115000"/>
              </a:lnSpc>
              <a:spcBef>
                <a:spcPts val="0"/>
              </a:spcBef>
              <a:spcAft>
                <a:spcPts val="0"/>
              </a:spcAft>
              <a:buClr>
                <a:schemeClr val="dk1"/>
              </a:buClr>
              <a:buSzPts val="1100"/>
              <a:buFont typeface="Arial"/>
              <a:buNone/>
            </a:pPr>
            <a:r>
              <a:rPr i="1" lang="en-US" sz="2100"/>
              <a:t>4. Relaciones: Relación One-to-Many con una entidad 'Mensaje'.</a:t>
            </a:r>
            <a:endParaRPr i="1" sz="2100"/>
          </a:p>
          <a:p>
            <a:pPr indent="0" lvl="0" marL="0" rtl="0" algn="l">
              <a:lnSpc>
                <a:spcPct val="115000"/>
              </a:lnSpc>
              <a:spcBef>
                <a:spcPts val="0"/>
              </a:spcBef>
              <a:spcAft>
                <a:spcPts val="0"/>
              </a:spcAft>
              <a:buClr>
                <a:schemeClr val="dk1"/>
              </a:buClr>
              <a:buSzPts val="1100"/>
              <a:buFont typeface="Arial"/>
              <a:buNone/>
            </a:pPr>
            <a:r>
              <a:rPr b="1" i="1" lang="en-US" sz="2100"/>
              <a:t>ENTREGABLE:</a:t>
            </a:r>
            <a:endParaRPr b="1" i="1" sz="2100"/>
          </a:p>
          <a:p>
            <a:pPr indent="0" lvl="0" marL="0" rtl="0" algn="l">
              <a:lnSpc>
                <a:spcPct val="115000"/>
              </a:lnSpc>
              <a:spcBef>
                <a:spcPts val="0"/>
              </a:spcBef>
              <a:spcAft>
                <a:spcPts val="0"/>
              </a:spcAft>
              <a:buClr>
                <a:schemeClr val="dk1"/>
              </a:buClr>
              <a:buSzPts val="1100"/>
              <a:buFont typeface="Arial"/>
              <a:buNone/>
            </a:pPr>
            <a:r>
              <a:rPr i="1" lang="en-US" sz="2100"/>
              <a:t>Código Java limpio, usando Lombok (si aplica para reducir boilerplate) y buenas prácticas.</a:t>
            </a:r>
            <a:endParaRPr i="1" sz="2100"/>
          </a:p>
          <a:p>
            <a:pPr indent="0" lvl="0" marL="0" rtl="0" algn="l">
              <a:lnSpc>
                <a:spcPct val="115000"/>
              </a:lnSpc>
              <a:spcBef>
                <a:spcPts val="0"/>
              </a:spcBef>
              <a:spcAft>
                <a:spcPts val="0"/>
              </a:spcAft>
              <a:buNone/>
            </a:pPr>
            <a:r>
              <a:t/>
            </a:r>
            <a:endParaRPr i="1"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g3912d451369_0_0"/>
          <p:cNvPicPr preferRelativeResize="0"/>
          <p:nvPr/>
        </p:nvPicPr>
        <p:blipFill rotWithShape="1">
          <a:blip r:embed="rId3">
            <a:alphaModFix/>
          </a:blip>
          <a:srcRect b="0" l="0" r="0" t="0"/>
          <a:stretch/>
        </p:blipFill>
        <p:spPr>
          <a:xfrm>
            <a:off x="17566375" y="132952"/>
            <a:ext cx="2290138" cy="580296"/>
          </a:xfrm>
          <a:prstGeom prst="rect">
            <a:avLst/>
          </a:prstGeom>
          <a:noFill/>
          <a:ln>
            <a:noFill/>
          </a:ln>
        </p:spPr>
      </p:pic>
      <p:pic>
        <p:nvPicPr>
          <p:cNvPr id="102" name="Google Shape;102;g3912d451369_0_0"/>
          <p:cNvPicPr preferRelativeResize="0"/>
          <p:nvPr/>
        </p:nvPicPr>
        <p:blipFill rotWithShape="1">
          <a:blip r:embed="rId4">
            <a:alphaModFix/>
          </a:blip>
          <a:srcRect b="0" l="0" r="0" t="0"/>
          <a:stretch/>
        </p:blipFill>
        <p:spPr>
          <a:xfrm>
            <a:off x="0" y="0"/>
            <a:ext cx="1946208" cy="1863370"/>
          </a:xfrm>
          <a:prstGeom prst="rect">
            <a:avLst/>
          </a:prstGeom>
          <a:noFill/>
          <a:ln>
            <a:noFill/>
          </a:ln>
        </p:spPr>
      </p:pic>
      <p:sp>
        <p:nvSpPr>
          <p:cNvPr id="103" name="Google Shape;103;g3912d451369_0_0"/>
          <p:cNvSpPr txBox="1"/>
          <p:nvPr/>
        </p:nvSpPr>
        <p:spPr>
          <a:xfrm>
            <a:off x="884150" y="776500"/>
            <a:ext cx="129639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AMAZON Q - ARQUITECTURA Y CAPACIDADES</a:t>
            </a:r>
            <a:endParaRPr b="1" sz="4000">
              <a:latin typeface="Montserrat"/>
              <a:ea typeface="Montserrat"/>
              <a:cs typeface="Montserrat"/>
              <a:sym typeface="Montserrat"/>
            </a:endParaRPr>
          </a:p>
        </p:txBody>
      </p:sp>
      <p:pic>
        <p:nvPicPr>
          <p:cNvPr descr="Deep Dive Técnico&#10;Arquitectura Interna:&#10;&#10;Foundation Model: Entrenado con código empresarial&#10;Fine-tuning: Optimizado para AWS ecosystem&#10;Security Layer: Código nunca almacenado o compartido&#10;Integration Layer: Conexión nativa con 50+ IDE y herramientas&#10;&#10;Training Data Especializado:&#10;&#10;Millones de repositorios enterprise&#10;AWS best practices y patterns&#10;Documentation y troubleshooting guides&#10;Security patterns y compliance frameworks&#10;&#10;Diferenciadores vs Competencia: Integración AWS, security enterprise, context awareness" id="104" name="Google Shape;104;g3912d451369_0_0"/>
          <p:cNvPicPr preferRelativeResize="0"/>
          <p:nvPr/>
        </p:nvPicPr>
        <p:blipFill>
          <a:blip r:embed="rId5">
            <a:alphaModFix/>
          </a:blip>
          <a:stretch>
            <a:fillRect/>
          </a:stretch>
        </p:blipFill>
        <p:spPr>
          <a:xfrm>
            <a:off x="1763525" y="1675300"/>
            <a:ext cx="16747625" cy="9322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aca3a17823_0_3"/>
          <p:cNvPicPr preferRelativeResize="0"/>
          <p:nvPr/>
        </p:nvPicPr>
        <p:blipFill rotWithShape="1">
          <a:blip r:embed="rId3">
            <a:alphaModFix/>
          </a:blip>
          <a:srcRect b="0" l="0" r="0" t="0"/>
          <a:stretch/>
        </p:blipFill>
        <p:spPr>
          <a:xfrm>
            <a:off x="17566375" y="132952"/>
            <a:ext cx="2290138" cy="580296"/>
          </a:xfrm>
          <a:prstGeom prst="rect">
            <a:avLst/>
          </a:prstGeom>
          <a:noFill/>
          <a:ln>
            <a:noFill/>
          </a:ln>
        </p:spPr>
      </p:pic>
      <p:pic>
        <p:nvPicPr>
          <p:cNvPr id="110" name="Google Shape;110;g3aca3a17823_0_3"/>
          <p:cNvPicPr preferRelativeResize="0"/>
          <p:nvPr/>
        </p:nvPicPr>
        <p:blipFill rotWithShape="1">
          <a:blip r:embed="rId4">
            <a:alphaModFix/>
          </a:blip>
          <a:srcRect b="0" l="0" r="0" t="0"/>
          <a:stretch/>
        </p:blipFill>
        <p:spPr>
          <a:xfrm>
            <a:off x="0" y="0"/>
            <a:ext cx="1946208" cy="1863370"/>
          </a:xfrm>
          <a:prstGeom prst="rect">
            <a:avLst/>
          </a:prstGeom>
          <a:noFill/>
          <a:ln>
            <a:noFill/>
          </a:ln>
        </p:spPr>
      </p:pic>
      <p:sp>
        <p:nvSpPr>
          <p:cNvPr id="111" name="Google Shape;111;g3aca3a17823_0_3"/>
          <p:cNvSpPr txBox="1"/>
          <p:nvPr/>
        </p:nvSpPr>
        <p:spPr>
          <a:xfrm>
            <a:off x="884150" y="776500"/>
            <a:ext cx="129639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MODEL CONTEXT PROTOCOL (MCP)</a:t>
            </a:r>
            <a:endParaRPr b="1" sz="4000">
              <a:latin typeface="Montserrat"/>
              <a:ea typeface="Montserrat"/>
              <a:cs typeface="Montserrat"/>
              <a:sym typeface="Montserrat"/>
            </a:endParaRPr>
          </a:p>
        </p:txBody>
      </p:sp>
      <p:sp>
        <p:nvSpPr>
          <p:cNvPr id="112" name="Google Shape;112;g3aca3a17823_0_3"/>
          <p:cNvSpPr txBox="1"/>
          <p:nvPr/>
        </p:nvSpPr>
        <p:spPr>
          <a:xfrm>
            <a:off x="4846725" y="6524150"/>
            <a:ext cx="72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pic>
        <p:nvPicPr>
          <p:cNvPr descr="Protocolo Revolucionario IA-Herramientas&#10;¿Qué son los MCPs?&#10;&#10;Estándar de comunicación entre IA y herramientas empresariales&#10;Permite a IA acceder bases de datos, APIs, servicios internos&#10;Context awareness de sistemas empresariales existentes&#10;&#10;Importancia Estratégica:&#10;&#10;IA conectada a toda la infraestructura empresarial&#10;Prompts pueden referenciar sistemas reales&#10;Automatic code generation con datos reales&#10;&#10;Casos de Uso Enterprise:&#10;&#10;IA genera código consultando esquemas de BD reales&#10;APIs auto-generadas con business rules existentes&#10;Tests con datos de sistemas reales" id="113" name="Google Shape;113;g3aca3a17823_0_3"/>
          <p:cNvPicPr preferRelativeResize="0"/>
          <p:nvPr/>
        </p:nvPicPr>
        <p:blipFill rotWithShape="1">
          <a:blip r:embed="rId5">
            <a:alphaModFix/>
          </a:blip>
          <a:srcRect b="0" l="2090" r="2013" t="4816"/>
          <a:stretch/>
        </p:blipFill>
        <p:spPr>
          <a:xfrm>
            <a:off x="1079550" y="1675300"/>
            <a:ext cx="16823900" cy="92948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g3acec2a8e70_0_4"/>
          <p:cNvPicPr preferRelativeResize="0"/>
          <p:nvPr/>
        </p:nvPicPr>
        <p:blipFill rotWithShape="1">
          <a:blip r:embed="rId3">
            <a:alphaModFix/>
          </a:blip>
          <a:srcRect b="0" l="0" r="0" t="0"/>
          <a:stretch/>
        </p:blipFill>
        <p:spPr>
          <a:xfrm>
            <a:off x="17566375" y="132952"/>
            <a:ext cx="2290138" cy="580296"/>
          </a:xfrm>
          <a:prstGeom prst="rect">
            <a:avLst/>
          </a:prstGeom>
          <a:noFill/>
          <a:ln>
            <a:noFill/>
          </a:ln>
        </p:spPr>
      </p:pic>
      <p:pic>
        <p:nvPicPr>
          <p:cNvPr id="119" name="Google Shape;119;g3acec2a8e70_0_4"/>
          <p:cNvPicPr preferRelativeResize="0"/>
          <p:nvPr/>
        </p:nvPicPr>
        <p:blipFill rotWithShape="1">
          <a:blip r:embed="rId4">
            <a:alphaModFix/>
          </a:blip>
          <a:srcRect b="0" l="0" r="0" t="0"/>
          <a:stretch/>
        </p:blipFill>
        <p:spPr>
          <a:xfrm>
            <a:off x="0" y="0"/>
            <a:ext cx="1946208" cy="1863370"/>
          </a:xfrm>
          <a:prstGeom prst="rect">
            <a:avLst/>
          </a:prstGeom>
          <a:noFill/>
          <a:ln>
            <a:noFill/>
          </a:ln>
        </p:spPr>
      </p:pic>
      <p:sp>
        <p:nvSpPr>
          <p:cNvPr id="120" name="Google Shape;120;g3acec2a8e70_0_4"/>
          <p:cNvSpPr txBox="1"/>
          <p:nvPr/>
        </p:nvSpPr>
        <p:spPr>
          <a:xfrm>
            <a:off x="884150" y="776500"/>
            <a:ext cx="129639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latin typeface="Montserrat"/>
                <a:ea typeface="Montserrat"/>
                <a:cs typeface="Montserrat"/>
                <a:sym typeface="Montserrat"/>
              </a:rPr>
              <a:t>CONOCER </a:t>
            </a:r>
            <a:r>
              <a:rPr b="1" lang="en-US" sz="4000">
                <a:latin typeface="Montserrat"/>
                <a:ea typeface="Montserrat"/>
                <a:cs typeface="Montserrat"/>
                <a:sym typeface="Montserrat"/>
              </a:rPr>
              <a:t>ECOSISTEMA</a:t>
            </a:r>
            <a:r>
              <a:rPr b="1" lang="en-US" sz="4000">
                <a:latin typeface="Montserrat"/>
                <a:ea typeface="Montserrat"/>
                <a:cs typeface="Montserrat"/>
                <a:sym typeface="Montserrat"/>
              </a:rPr>
              <a:t> DE TRABAJO</a:t>
            </a:r>
            <a:endParaRPr b="1" sz="4000">
              <a:latin typeface="Montserrat"/>
              <a:ea typeface="Montserrat"/>
              <a:cs typeface="Montserrat"/>
              <a:sym typeface="Montserrat"/>
            </a:endParaRPr>
          </a:p>
        </p:txBody>
      </p:sp>
      <p:pic>
        <p:nvPicPr>
          <p:cNvPr id="121" name="Google Shape;121;g3acec2a8e70_0_4"/>
          <p:cNvPicPr preferRelativeResize="0"/>
          <p:nvPr/>
        </p:nvPicPr>
        <p:blipFill>
          <a:blip r:embed="rId5">
            <a:alphaModFix/>
          </a:blip>
          <a:stretch>
            <a:fillRect/>
          </a:stretch>
        </p:blipFill>
        <p:spPr>
          <a:xfrm>
            <a:off x="2098592" y="1827700"/>
            <a:ext cx="14974027" cy="9052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type="title"/>
          </p:nvPr>
        </p:nvSpPr>
        <p:spPr>
          <a:xfrm>
            <a:off x="1231297" y="6268050"/>
            <a:ext cx="2995200" cy="69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2025-11-25T14:03:09Z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2025-11-25T00:00:00Z</vt:filetime>
  </property>
  <property fmtid="{D5CDD505-2E9C-101B-9397-08002B2CF9AE}" pid="3" name="Creator">
    <vt:lpwstr>www.smallpdf.com</vt:lpwstr>
  </property>
  <property fmtid="{D5CDD505-2E9C-101B-9397-08002B2CF9AE}" pid="4" name="LastSaved">
    <vt:filetime>2025-11-25T00:00:00Z</vt:filetime>
  </property>
  <property fmtid="{D5CDD505-2E9C-101B-9397-08002B2CF9AE}" pid="5" name="Producer">
    <vt:lpwstr>3-Heights(TM) PDF Security Shell 4.8.25.2 (http://www.pdf-tools.com)</vt:lpwstr>
  </property>
</Properties>
</file>