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1309350" cx="20104100"/>
  <p:notesSz cx="20104100" cy="1130935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n/VMFuGlkkQd+62gPH8oQsgke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7689240d_0_6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b07689240d_0_6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624ae2d58_0_29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a624ae2d58_0_29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73a5b95ad_0_11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a73a5b95ad_0_11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73a5b95ad_0_31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a73a5b95ad_0_31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3a5b95ad_0_41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a73a5b95ad_0_41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73a5b95ad_0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a73a5b95ad_0_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3a5b95ad_0_5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a73a5b95ad_0_5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73a5b95ad_0_22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a73a5b95ad_0_22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927456" y="6204754"/>
            <a:ext cx="2063114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50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566375" y="132952"/>
            <a:ext cx="2290139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7"/>
          <p:cNvSpPr txBox="1"/>
          <p:nvPr>
            <p:ph type="title"/>
          </p:nvPr>
        </p:nvSpPr>
        <p:spPr>
          <a:xfrm>
            <a:off x="927456" y="6204754"/>
            <a:ext cx="2063114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50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50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927456" y="6204754"/>
            <a:ext cx="2063114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50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20081388" cy="112835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"/>
          <p:cNvSpPr/>
          <p:nvPr/>
        </p:nvSpPr>
        <p:spPr>
          <a:xfrm>
            <a:off x="771662" y="6002717"/>
            <a:ext cx="7084059" cy="1283970"/>
          </a:xfrm>
          <a:custGeom>
            <a:rect b="b" l="l" r="r" t="t"/>
            <a:pathLst>
              <a:path extrusionOk="0" h="1283970" w="7084059">
                <a:moveTo>
                  <a:pt x="6865948" y="0"/>
                </a:moveTo>
                <a:lnTo>
                  <a:pt x="217783" y="0"/>
                </a:lnTo>
                <a:lnTo>
                  <a:pt x="168101" y="5794"/>
                </a:lnTo>
                <a:lnTo>
                  <a:pt x="122360" y="22278"/>
                </a:lnTo>
                <a:lnTo>
                  <a:pt x="81909" y="48102"/>
                </a:lnTo>
                <a:lnTo>
                  <a:pt x="48098" y="81915"/>
                </a:lnTo>
                <a:lnTo>
                  <a:pt x="22276" y="122368"/>
                </a:lnTo>
                <a:lnTo>
                  <a:pt x="5794" y="168111"/>
                </a:lnTo>
                <a:lnTo>
                  <a:pt x="0" y="217794"/>
                </a:lnTo>
                <a:lnTo>
                  <a:pt x="0" y="1065642"/>
                </a:lnTo>
                <a:lnTo>
                  <a:pt x="5794" y="1115325"/>
                </a:lnTo>
                <a:lnTo>
                  <a:pt x="22276" y="1161066"/>
                </a:lnTo>
                <a:lnTo>
                  <a:pt x="48098" y="1201517"/>
                </a:lnTo>
                <a:lnTo>
                  <a:pt x="81909" y="1235328"/>
                </a:lnTo>
                <a:lnTo>
                  <a:pt x="122360" y="1261150"/>
                </a:lnTo>
                <a:lnTo>
                  <a:pt x="168101" y="1277632"/>
                </a:lnTo>
                <a:lnTo>
                  <a:pt x="217783" y="1283426"/>
                </a:lnTo>
                <a:lnTo>
                  <a:pt x="6865948" y="1283426"/>
                </a:lnTo>
                <a:lnTo>
                  <a:pt x="6915630" y="1277632"/>
                </a:lnTo>
                <a:lnTo>
                  <a:pt x="6961371" y="1261150"/>
                </a:lnTo>
                <a:lnTo>
                  <a:pt x="7001822" y="1235328"/>
                </a:lnTo>
                <a:lnTo>
                  <a:pt x="7035633" y="1201517"/>
                </a:lnTo>
                <a:lnTo>
                  <a:pt x="7061455" y="1161066"/>
                </a:lnTo>
                <a:lnTo>
                  <a:pt x="7077937" y="1115325"/>
                </a:lnTo>
                <a:lnTo>
                  <a:pt x="7083731" y="1065642"/>
                </a:lnTo>
                <a:lnTo>
                  <a:pt x="7083731" y="217794"/>
                </a:lnTo>
                <a:lnTo>
                  <a:pt x="7077937" y="168111"/>
                </a:lnTo>
                <a:lnTo>
                  <a:pt x="7061455" y="122368"/>
                </a:lnTo>
                <a:lnTo>
                  <a:pt x="7035633" y="81915"/>
                </a:lnTo>
                <a:lnTo>
                  <a:pt x="7001822" y="48102"/>
                </a:lnTo>
                <a:lnTo>
                  <a:pt x="6961371" y="22278"/>
                </a:lnTo>
                <a:lnTo>
                  <a:pt x="6915630" y="5794"/>
                </a:lnTo>
                <a:lnTo>
                  <a:pt x="68659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5"/>
          <p:cNvSpPr txBox="1"/>
          <p:nvPr>
            <p:ph type="title"/>
          </p:nvPr>
        </p:nvSpPr>
        <p:spPr>
          <a:xfrm>
            <a:off x="927456" y="6204754"/>
            <a:ext cx="2063114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50" u="none" cap="none" strike="noStrike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jpg"/><Relationship Id="rId6" Type="http://schemas.openxmlformats.org/officeDocument/2006/relationships/hyperlink" Target="https://docs.google.com/document/d/1ESpmDZYlpUfS25N6VB4AWs8Ec9il--rA5h4ZfRrixFw/edit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drive.google.com/file/d/1oVTkKsipBlusDQm7yEyiS67Ixev6W-OP/view?usp=sharing" TargetMode="External"/><Relationship Id="rId6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docs.google.com/document/d/1Mo5kAKbYqlik9En15mWbaPk9PFHiVHqWuIITlwffEBk/edit?usp=sharing" TargetMode="External"/><Relationship Id="rId6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710825" y="5953075"/>
            <a:ext cx="11436000" cy="134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>
            <p:ph type="title"/>
          </p:nvPr>
        </p:nvSpPr>
        <p:spPr>
          <a:xfrm>
            <a:off x="931250" y="6274375"/>
            <a:ext cx="68499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DEPLOY CLOUD - REVIEW</a:t>
            </a: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931250" y="7465450"/>
            <a:ext cx="90048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Amazon Q como protagonista del desarrollo</a:t>
            </a:r>
            <a:endParaRPr b="0" i="0" sz="3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3b07689240d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b07689240d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b07689240d_0_60"/>
          <p:cNvSpPr txBox="1"/>
          <p:nvPr/>
        </p:nvSpPr>
        <p:spPr>
          <a:xfrm>
            <a:off x="884150" y="776500"/>
            <a:ext cx="71781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METODOLOGIA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g3b07689240d_0_60"/>
          <p:cNvSpPr txBox="1"/>
          <p:nvPr/>
        </p:nvSpPr>
        <p:spPr>
          <a:xfrm>
            <a:off x="4846725" y="6524150"/>
            <a:ext cx="7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b07689240d_0_60"/>
          <p:cNvSpPr txBox="1"/>
          <p:nvPr/>
        </p:nvSpPr>
        <p:spPr>
          <a:xfrm>
            <a:off x="762000" y="2362200"/>
            <a:ext cx="1745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todología de Desarrollo de Software Asistido por LLM&#10;&#10;1. Tasks (Gestión de Tareas y Requerimientos)&#10;En esta fase, el objetivo es reducir la ambigüedad antes de escribir una sola línea de código.&#10;&#10;Rol del LLM: Analista de Negocio / Asistente de Producto.&#10;Acciones Clave:&#10;Limpieza de Requerimientos: Pegar una descripción desordenada de una funcionalidad y pedir al LLM que la estructure en una Historia de Usuario con formato estándar (ej. &quot;Como usuario, quiero... para que...&quot;).&#10;Criterios de Aceptación: Generar criterios Gherkin (Given/When/Then) para asegurar que se cubren todos los casos de borde.&#10;Desglose: Pedir al modelo que divida una tarea grande en sub-tareas técnicas más pequeñas.&#10;2. Brainstorm (Ideación e Investigación)&#10;Antes de decidir cómo hacerlo, explora opciones. Los LLMs son excelentes para la divergencia.&#10;&#10;Rol del LLM: Arquitecto de Soluciones / Consultor Técnico.&#10;Acciones Clave:&#10;Análisis de Alternativas: Preguntar: &quot;¿Cuáles son 3 formas eficientes de manejar el estado global en esta aplicación React? Lista pros y contras&quot;.&#10;Selección de Tecnologías: Comparar librerías para una tarea específica (ej. &quot;¿Qué librería de gráficos es más ligera para móviles: Chart.js o Recharts?&quot;).&#10;Identificación de Riesgos: Preguntar qué problemas de seguridad o rendimiento podrían surgir con el enfoque propuesto.&#10;3. Plan (Diseño y Arquitectura)&#10;Definir la estructura. Aquí los LLMs brillan transformando texto en estructuras visuales o esquemáticas.&#10;&#10;Rol del LLM: Arquitecto de Software.&#10;Acciones Clave:&#10;Diagramas como Código: Pedir al LLM que genere código para Mermaid.js o PlantUML para visualizar flujos de datos o arquitectura de sistemas.&#10;Diseño de API: Generar especificaciones OpenAPI (Swagger) o esquemas GraphQL basados en los requisitos de datos.&#10;Esquemas de Base de Datos: Solicitar el DDL SQL o esquemas NoSQL optimizados para las consultas que se planean realizar.&#10;4. Implement (Codificación)&#10;La fase de construcción. Herramientas como GitHub Copilot, Cursor o Amazon Q se integran en el IDE.&#10;&#10;Rol del LLM: Pair Programmer (Programador de Pares).&#10;Acciones Clave:&#10;Generación de Boilerplate: Crear estructuras básicas de clases, controladores o componentes de UI repetitivos.&#10;Lógica Compleja: Escribir funciones específicas (ej. &quot;Escribe una función regex para validar emails corporativos&quot;).&#10;Transformación: Traducir código de un lenguaje a otro o refactorizar código &quot;sucio&quot; a código limpio siguiendo principios SOLID.&#10;Context Awareness (RAG): Usar herramientas que lean tus otros archivos para que el LLM sugiera código que respete el estilo y las variables de tu proyecto existente.&#10;5. Verify (Verificación y QA)&#10;Garantizar la calidad. El LLM es excelente encontrando patrones que el ojo humano pasa por alto.&#10;&#10;Rol del LLM: Ingeniero de QA / Auditor de Seguridad.&#10;Acciones Clave:&#10;Generación de Tests: Crear tests unitarios (Jest, PyTest, JUnit) automáticamente para el código recién escrito, enfocándose en casos extremos (edge cases).&#10;Análisis Estático: Pegar un bloque de código y preguntar: &quot;¿Ves alguna vulnerabilidad de seguridad o posible 'race condition' aquí?&quot;.&#10;Datos de Prueba: Generar scripts SQL o JSONs con datos falsos (mock data) realistas para probar la aplicación.&#10;6. Deploy (Despliegue e Infraestructura)&#10;Llevar el código a producción y gestionar la nube.&#10;&#10;Rol del LLM: Ingeniero DevOps.&#10;Acciones Clave:&#10;Infraestructura como Código (IaC): Generar plantillas de Terraform, CloudFormation o Dockerfiles basados en la arquitectura definida en la fase de &quot;Plan&quot;.&#10;Scripts de Automatización: Crear scripts de Bash o Python para pipelines de CI/CD (GitHub Actions, GitLab CI).&#10;Resolución de Errores de Despliegue: Pegar logs de error de la consola de la nube para obtener diagnósticos y soluciones rápidas.&#10;7. Document (Documentación)&#10;Cerrar el ciclo asegurando que el conocimiento perdura.&#10;&#10;Rol del LLM: Technical Writer (Redactor Técnico).&#10;Acciones Clave:&#10;Docstrings: Añadir comentarios explicativos automáticos a funciones y clases complejas.&#10;README.md: Generar la documentación del repositorio explicando cómo instalar, configurar y usar el proyecto.&#10;Release Notes: Resumir la lista de commits técnicos en notas de versión legibles para humanos o usuarios finales.&#10;Resumen del Flujo de Trabajo&#10;Pregunta (Prompting): Inicias cada fase consultando al modelo.&#10;Generación: El modelo produce un borrador (código, plan, texto).&#10;Validación Humana: Revisas que sea correcto, seguro y eficiente.&#10;Iteración: Refinas el resultado con nuevos prompts si es necesario.&#10;Integración: Incorporas el resultado al proyecto." id="59" name="Google Shape;59;g3b07689240d_0_60"/>
          <p:cNvPicPr preferRelativeResize="0"/>
          <p:nvPr/>
        </p:nvPicPr>
        <p:blipFill rotWithShape="1">
          <a:blip r:embed="rId5">
            <a:alphaModFix/>
          </a:blip>
          <a:srcRect b="0" l="0" r="0" t="13043"/>
          <a:stretch/>
        </p:blipFill>
        <p:spPr>
          <a:xfrm>
            <a:off x="547650" y="1863375"/>
            <a:ext cx="19008800" cy="92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a624ae2d58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g3a624ae2d58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624ae2d58_0_29"/>
          <p:cNvSpPr txBox="1"/>
          <p:nvPr/>
        </p:nvSpPr>
        <p:spPr>
          <a:xfrm>
            <a:off x="884150" y="776500"/>
            <a:ext cx="104013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ARQUITECTURA PROPUESTA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g3a624ae2d58_0_29"/>
          <p:cNvSpPr txBox="1"/>
          <p:nvPr/>
        </p:nvSpPr>
        <p:spPr>
          <a:xfrm>
            <a:off x="4846725" y="6524150"/>
            <a:ext cx="7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e se vea mucho mas moderna y llamativo" id="68" name="Google Shape;68;g3a624ae2d58_0_29"/>
          <p:cNvPicPr preferRelativeResize="0"/>
          <p:nvPr/>
        </p:nvPicPr>
        <p:blipFill rotWithShape="1">
          <a:blip r:embed="rId5">
            <a:alphaModFix/>
          </a:blip>
          <a:srcRect b="0" l="0" r="18903" t="0"/>
          <a:stretch/>
        </p:blipFill>
        <p:spPr>
          <a:xfrm>
            <a:off x="3852451" y="1675300"/>
            <a:ext cx="11851915" cy="81354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a624ae2d58_0_29"/>
          <p:cNvSpPr txBox="1"/>
          <p:nvPr/>
        </p:nvSpPr>
        <p:spPr>
          <a:xfrm>
            <a:off x="437375" y="10039300"/>
            <a:ext cx="1889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https://docs.google.com/document/d/1ESpmDZYlpUfS25N6VB4AWs8Ec9il--rA5h4ZfRrixFw/edit?usp=sharing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g3a73a5b95ad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a73a5b95ad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a73a5b95ad_0_11"/>
          <p:cNvSpPr txBox="1"/>
          <p:nvPr/>
        </p:nvSpPr>
        <p:spPr>
          <a:xfrm>
            <a:off x="884150" y="776500"/>
            <a:ext cx="17601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FUNDAMENTOS DE INFRAESTRCUTURA COMO CODIGO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g3a73a5b95ad_0_11"/>
          <p:cNvSpPr txBox="1"/>
          <p:nvPr/>
        </p:nvSpPr>
        <p:spPr>
          <a:xfrm>
            <a:off x="4846725" y="6524150"/>
            <a:ext cx="7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 se ve muy claro el texto que generaste en la imagen se ve muy mal mejoralo" id="78" name="Google Shape;78;g3a73a5b95ad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8300" y="1566748"/>
            <a:ext cx="17307492" cy="963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a73a5b95ad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a73a5b95ad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a73a5b95ad_0_31"/>
          <p:cNvSpPr txBox="1"/>
          <p:nvPr/>
        </p:nvSpPr>
        <p:spPr>
          <a:xfrm>
            <a:off x="884150" y="776500"/>
            <a:ext cx="17601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FUNDAMENTOS DE INFRAESTRCUTURA COMO CODIGO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g3a73a5b95ad_0_31"/>
          <p:cNvSpPr txBox="1"/>
          <p:nvPr/>
        </p:nvSpPr>
        <p:spPr>
          <a:xfrm>
            <a:off x="4846725" y="6524150"/>
            <a:ext cx="7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incipios Críticos&#10;1. Separation of Concerns&#10;&#10;1 Stack = 1 Responsabilidad&#10;Facilita mantenimiento&#10;&#10;2. Nunca Secretos en Código&#10;&#10;❌ Passwords hardcoded&#10;✅ AWS Secrets Manager&#10;&#10;3. Siempre Preview Antes de Deploy&#10;&#10;Ver cambios ANTES de aplicar&#10;Evita sorpresas destructivas&#10;&#10;Workflow Recomendado&#10;1. Código en Git&#10;2. Pull Request + Review&#10;3. Preview de cambios (diff)&#10;4. Deploy a Dev&#10;5. Tests automáticos&#10;6. Deploy a Staging&#10;7. Aprobación manual&#10;8. Deploy a Prod&#10;Paridad de Ambientes&#10;&#10;Staging = Prod (solo scaled down)&#10;Evita &quot;funciona en dev, falla en prod&quot;&#10;&#10;Anti-Patrones a Evitar&#10;&#10;❌ Cambios manuales en consola&#10;❌ Un stack gigante para todo&#10;❌ Mismo stack para todos los ambientes&#10;❌ Deploy sin ver preview&#10;❌ Sin tags de organización&#10;&#10;Regla de Oro&#10;&#10;Si no está en código, no existe&#10;&#10;Todo cambio debe pasar por IaC, sin excepciones." id="87" name="Google Shape;87;g3a73a5b95ad_0_31"/>
          <p:cNvPicPr preferRelativeResize="0"/>
          <p:nvPr/>
        </p:nvPicPr>
        <p:blipFill rotWithShape="1">
          <a:blip r:embed="rId5">
            <a:alphaModFix/>
          </a:blip>
          <a:srcRect b="3934" l="2492" r="2005" t="18317"/>
          <a:stretch/>
        </p:blipFill>
        <p:spPr>
          <a:xfrm>
            <a:off x="798188" y="1863375"/>
            <a:ext cx="18507725" cy="83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73a5b95ad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a73a5b95ad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a73a5b95ad_0_41"/>
          <p:cNvSpPr txBox="1"/>
          <p:nvPr/>
        </p:nvSpPr>
        <p:spPr>
          <a:xfrm>
            <a:off x="884150" y="776500"/>
            <a:ext cx="17601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Entendiendo el flujo interno CDK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g3a73a5b95ad_0_41"/>
          <p:cNvSpPr txBox="1"/>
          <p:nvPr/>
        </p:nvSpPr>
        <p:spPr>
          <a:xfrm>
            <a:off x="4846725" y="6524150"/>
            <a:ext cx="7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g3a73a5b95ad_0_41"/>
          <p:cNvPicPr preferRelativeResize="0"/>
          <p:nvPr/>
        </p:nvPicPr>
        <p:blipFill rotWithShape="1">
          <a:blip r:embed="rId5">
            <a:alphaModFix/>
          </a:blip>
          <a:srcRect b="228" l="0" r="0" t="219"/>
          <a:stretch/>
        </p:blipFill>
        <p:spPr>
          <a:xfrm>
            <a:off x="3957285" y="1582722"/>
            <a:ext cx="12189525" cy="905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a73a5b95a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a73a5b95a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a73a5b95ad_0_0"/>
          <p:cNvSpPr txBox="1"/>
          <p:nvPr/>
        </p:nvSpPr>
        <p:spPr>
          <a:xfrm>
            <a:off x="884150" y="776500"/>
            <a:ext cx="104013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ARQUITECTURA PROPUESTA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g3a73a5b95ad_0_0"/>
          <p:cNvSpPr txBox="1"/>
          <p:nvPr/>
        </p:nvSpPr>
        <p:spPr>
          <a:xfrm>
            <a:off x="2282500" y="10280425"/>
            <a:ext cx="1553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u="sng">
                <a:solidFill>
                  <a:schemeClr val="hlink"/>
                </a:solidFill>
                <a:hlinkClick r:id="rId5"/>
              </a:rPr>
              <a:t>https://drive.google.com/file/d/1oVTkKsipBlusDQm7yEyiS67Ixev6W-OP/view?usp=sharing</a:t>
            </a:r>
            <a:r>
              <a:rPr lang="en-US" sz="3000"/>
              <a:t>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 proyecto es un sistema de gestión de tickets/colas bancarias con dos módulos principales:&#10;&#10;  Estructura General&#10;&#10;  capacitacion-ai-java/&#10;  ├── ticketero/           # Aplicación Spring Boot&#10;  └── ticketero-infra/     # Infraestructura CDK (IaC)&#10;&#10;  ---&#10;  Módulo CDK (ticketero-infra)&#10;&#10;  La infraestructura está organizada en 5 stacks independientes:&#10;&#10;  | Stack             | Recursos AWS                                                   |&#10;  |-------------------|----------------------------------------------------------------|&#10;  | NetworkStack      | VPC, Subnets (públicas/privadas), NAT Gateway, Security Groups |&#10;  | DatabaseStack     | RDS PostgreSQL 16, Secrets Manager                             |&#10;  | MessagingStack    | Amazon MQ (RabbitMQ 3.13)                                      |&#10;  | NotificationStack | Secretos para Telegram                                         |&#10;  | ApplicationStack  | ECS Fargate, ALB, Auto-scaling, CloudWatch                     |" id="105" name="Google Shape;105;g3a73a5b95ad_0_0"/>
          <p:cNvPicPr preferRelativeResize="0"/>
          <p:nvPr/>
        </p:nvPicPr>
        <p:blipFill rotWithShape="1">
          <a:blip r:embed="rId6">
            <a:alphaModFix/>
          </a:blip>
          <a:srcRect b="1758" l="2343" r="2391" t="3714"/>
          <a:stretch/>
        </p:blipFill>
        <p:spPr>
          <a:xfrm>
            <a:off x="2342100" y="1675301"/>
            <a:ext cx="15419892" cy="85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a73a5b95ad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a73a5b95ad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a73a5b95ad_0_50"/>
          <p:cNvSpPr txBox="1"/>
          <p:nvPr/>
        </p:nvSpPr>
        <p:spPr>
          <a:xfrm>
            <a:off x="884150" y="776500"/>
            <a:ext cx="99612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Entendiendo el flujo interno CDK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g3a73a5b95ad_0_50"/>
          <p:cNvSpPr txBox="1"/>
          <p:nvPr/>
        </p:nvSpPr>
        <p:spPr>
          <a:xfrm>
            <a:off x="4846725" y="6524150"/>
            <a:ext cx="7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a73a5b95ad_0_50"/>
          <p:cNvSpPr txBox="1"/>
          <p:nvPr/>
        </p:nvSpPr>
        <p:spPr>
          <a:xfrm>
            <a:off x="1489150" y="1701500"/>
            <a:ext cx="12431700" cy="9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1. Crear cuenta AWS (si no tienes)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- https://aws.amazon.com → "Create an AWS Account"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- Necesitas email, tarjeta de crédito para verificación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2. Crear usuario IAM (Mejores prácticas)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Opción A - Usuario IAM (tradicional):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1. IAM → Users → Create user → Nombre: cdk-deployer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2. Permissions → Attach policies directly → AdministratorAccess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3. Security credentials → Create access key → CLI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4. Guardar Access Key ID y Secret Access Key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Opción B - IAM Identity Center (recomendado para producción):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1. IAM Identity Center → Enable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2. Crear usuario y asignar permisos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  3. Usar aws configure sso</a:t>
            </a:r>
            <a:endParaRPr b="1" sz="3000"/>
          </a:p>
        </p:txBody>
      </p:sp>
      <p:sp>
        <p:nvSpPr>
          <p:cNvPr id="115" name="Google Shape;115;g3a73a5b95ad_0_50"/>
          <p:cNvSpPr txBox="1"/>
          <p:nvPr/>
        </p:nvSpPr>
        <p:spPr>
          <a:xfrm>
            <a:off x="14501625" y="7220825"/>
            <a:ext cx="5084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hlinkClick r:id="rId5"/>
              </a:rPr>
              <a:t>https://docs.google.com/document/d/1Mo5kAKbYqlik9En15mWbaPk9PFHiVHqWuIITlwffEBk/edit?usp=sharing</a:t>
            </a:r>
            <a:r>
              <a:rPr lang="en-US" sz="3000"/>
              <a:t> </a:t>
            </a:r>
            <a:endParaRPr sz="3000"/>
          </a:p>
        </p:txBody>
      </p:sp>
      <p:pic>
        <p:nvPicPr>
          <p:cNvPr descr="aws y cdk" id="116" name="Google Shape;116;g3a73a5b95ad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35822" y="2282928"/>
            <a:ext cx="4663625" cy="46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a73a5b95ad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a73a5b95ad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a73a5b95ad_0_22"/>
          <p:cNvSpPr txBox="1"/>
          <p:nvPr/>
        </p:nvSpPr>
        <p:spPr>
          <a:xfrm>
            <a:off x="884150" y="776500"/>
            <a:ext cx="104013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ARQUITECTURA PROPUESTA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Configuración Multi-ambiente&#10;&#10;  // Dev: bajo costo&#10;  vpcCidr: 10.0.0.0/16, natGateways: 1&#10;  db: t3.micro, Multi-AZ: false&#10;  ECS: 512 CPU, 1024MB, min-max: 1-2&#10;&#10;  // Prod: alta disponibilidad&#10;  vpcCidr: 10.1.0.0/16, natGateways: 2&#10;  db: t3.small, Multi-AZ: true&#10;  ECS: 1024 CPU, 2048MB, min-max: 2-6&#10;&#10;  Archivos CDK Clave&#10;&#10;  | Archivo                      | Propósito                              |&#10;  |------------------------------|----------------------------------------|&#10;  | TicketeroInfraApp.java       | Entry point, orquesta todos los stacks |&#10;  | EnvironmentConfig.java       | Configuración dev/prod                 |&#10;  | stacks/NetworkStack.java     | VPC y networking                       |&#10;  | stacks/DatabaseStack.java    | RDS PostgreSQL                         |&#10;  | stacks/MessagingStack.java   | Amazon MQ                              |&#10;  | stacks/ApplicationStack.java | ECS Fargate + ALB                      |" id="124" name="Google Shape;124;g3a73a5b95ad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0125" y="1675300"/>
            <a:ext cx="16843850" cy="93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1231297" y="6268050"/>
            <a:ext cx="2995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¡Gracias!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2025-11-25T14:03:09Z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2025-11-25T00:00:00Z</vt:filetime>
  </property>
  <property fmtid="{D5CDD505-2E9C-101B-9397-08002B2CF9AE}" pid="5" name="Producer">
    <vt:lpwstr>3-Heights(TM) PDF Security Shell 4.8.25.2 (http://www.pdf-tools.com)</vt:lpwstr>
  </property>
</Properties>
</file>